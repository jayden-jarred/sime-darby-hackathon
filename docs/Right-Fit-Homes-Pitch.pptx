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27b64a4-bb29-2a0b-16d7-0aa5c262fa1d}">
          <p14:sldIdLst>
            <p14:sldId id="256"/>
            <p14:sldId id="257"/>
          </p14:sldIdLst>
        </p14:section>
        <p14:section name="The Story" id="{8240e8ae-7d3c-c1eb-ee89-88637ec0cf40}">
          <p14:sldIdLst>
            <p14:sldId id="258"/>
            <p14:sldId id="259"/>
            <p14:sldId id="260"/>
            <p14:sldId id="261"/>
          </p14:sldIdLst>
        </p14:section>
        <p14:section name="The Proof" id="{ce133c75-2de2-dc97-86aa-af2f8163edfd}">
          <p14:sldIdLst>
            <p14:sldId id="262"/>
            <p14:sldId id="263"/>
            <p14:sldId id="264"/>
            <p14:sldId id="265"/>
            <p14:sldId id="266"/>
            <p14:sldId id="267"/>
          </p14:sldIdLst>
        </p14:section>
        <p14:section name="Close" id="{e11f0ccf-35f0-05fc-b61a-fe72ef9a51a0}">
          <p14:sldIdLst>
            <p14:sldId id="268"/>
          </p14:sldIdLst>
        </p14:section>
        <p14:section name="Appendix" id="{3c89a51c-5846-c647-af8b-74abab6adf15}">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E1E1E"/>
                </a:solidFill>
                <a:latin typeface="+mn-lt"/>
              </a:defRPr>
            </a:pPr>
            <a:r>
              <a:rPr sz="1500" b="0" i="0" u="none" strike="noStrike">
                <a:solidFill>
                  <a:srgbClr val="1E1E1E"/>
                </a:solidFill>
                <a:latin typeface="+mn-lt"/>
              </a:rPr>
              <a:t>Share of owners who removed each fitting</a:t>
            </a:r>
          </a:p>
        </c:rich>
      </c:tx>
      <c:layout/>
      <c:overlay val="0"/>
    </c:title>
    <c:autoTitleDeleted val="0"/>
    <c:plotArea>
      <c:layout/>
      <c:barChart>
        <c:barDir val="bar"/>
        <c:grouping val="clustered"/>
        <c:varyColors val="0"/>
        <c:ser>
          <c:idx val="0"/>
          <c:order val="0"/>
          <c:tx>
            <c:strRef>
              <c:f>Sheet1!$B$1</c:f>
              <c:strCache>
                <c:ptCount val="1"/>
                <c:pt idx="0">
                  <c:v>Owners who removed it</c:v>
                </c:pt>
              </c:strCache>
            </c:strRef>
          </c:tx>
          <c:spPr>
            <a:solidFill>
              <a:srgbClr val="D81921"/>
            </a:solidFill>
            <a:effectLst/>
          </c:spPr>
          <c:invertIfNegative val="0"/>
          <c:dLbls>
            <c:numFmt formatCode="0&quot;%&quot;" sourceLinked="0"/>
            <c:txPr>
              <a:bodyPr/>
              <a:lstStyle/>
              <a:p>
                <a:pPr>
                  <a:defRPr b="1" i="0" strike="noStrike" sz="1300" u="none">
                    <a:solidFill>
                      <a:srgbClr val="1E1E1E"/>
                    </a:solidFill>
                    <a:latin typeface="+mn-lt"/>
                  </a:defRPr>
                </a:pPr>
              </a:p>
            </c:txPr>
            <c:showLegendKey val="0"/>
            <c:showVal val="1"/>
            <c:showCatName val="0"/>
            <c:showSerName val="0"/>
            <c:showPercent val="0"/>
            <c:showBubbleSize val="0"/>
            <c:showLeaderLines val="0"/>
          </c:dLbls>
          <c:cat>
            <c:multiLvlStrRef>
              <c:f>Sheet1!$A$2:$A$8</c:f>
              <c:multiLvlStrCache>
                <c:ptCount val="7"/>
                <c:lvl>
                  <c:pt idx="0">
                    <c:v>Kitchen cabinets</c:v>
                  </c:pt>
                  <c:pt idx="1">
                    <c:v>Kitchen top</c:v>
                  </c:pt>
                  <c:pt idx="2">
                    <c:v>Master bedroom wardrobe</c:v>
                  </c:pt>
                  <c:pt idx="3">
                    <c:v>Decorative light fittings</c:v>
                  </c:pt>
                  <c:pt idx="4">
                    <c:v>Bedroom 2 wardrobe</c:v>
                  </c:pt>
                  <c:pt idx="5">
                    <c:v>Ground-floor tiles</c:v>
                  </c:pt>
                  <c:pt idx="6">
                    <c:v>Basins and toilets</c:v>
                  </c:pt>
                </c:lvl>
              </c:multiLvlStrCache>
            </c:multiLvlStrRef>
          </c:cat>
          <c:val>
            <c:numRef>
              <c:f>Sheet1!$B$2:$B$8</c:f>
              <c:numCache>
                <c:formatCode>General</c:formatCode>
                <c:ptCount val="7"/>
                <c:pt idx="0">
                  <c:v>60</c:v>
                </c:pt>
                <c:pt idx="1">
                  <c:v>52</c:v>
                </c:pt>
                <c:pt idx="2">
                  <c:v>46</c:v>
                </c:pt>
                <c:pt idx="3">
                  <c:v>37</c:v>
                </c:pt>
                <c:pt idx="4">
                  <c:v>31</c:v>
                </c:pt>
                <c:pt idx="5">
                  <c:v>17</c:v>
                </c:pt>
                <c:pt idx="6">
                  <c:v>9</c:v>
                </c:pt>
              </c:numCache>
            </c:numRef>
          </c:val>
        </c:ser>
        <c:dLbls>
          <c:numFmt formatCode="0&quot;%&quot;" sourceLinked="0"/>
          <c:txPr>
            <a:bodyPr/>
            <a:lstStyle/>
            <a:p>
              <a:pPr>
                <a:defRPr b="1" i="0" strike="noStrike" sz="1300" u="none">
                  <a:solidFill>
                    <a:srgbClr val="1E1E1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E1E1E"/>
                </a:solidFill>
                <a:latin typeface="+mn-lt"/>
              </a:defRPr>
            </a:pPr>
            <a:endParaRPr lang="en-US"/>
          </a:p>
        </c:txPr>
        <c:crossAx val="2094734552"/>
        <c:crosses val="autoZero"/>
        <c:auto val="1"/>
        <c:lblAlgn val="ctr"/>
        <c:noMultiLvlLbl val="1"/>
      </c:catAx>
      <c:valAx>
        <c:axId val="2094734552"/>
        <c:scaling>
          <c:orientation val="minMax"/>
          <c:max val="7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E1E1E"/>
                </a:solidFill>
                <a:latin typeface="+mn-lt"/>
              </a:defRPr>
            </a:pPr>
            <a:r>
              <a:rPr sz="1500" b="0" i="0" u="none" strike="noStrike">
                <a:solidFill>
                  <a:srgbClr val="1E1E1E"/>
                </a:solidFill>
                <a:latin typeface="+mn-lt"/>
              </a:rPr>
              <a:t>Where 71.6 t of would-be rip-out waste goes</a:t>
            </a:r>
          </a:p>
        </c:rich>
      </c:tx>
      <c:layout/>
      <c:overlay val="0"/>
    </c:title>
    <c:autoTitleDeleted val="0"/>
    <c:plotArea>
      <c:layout/>
      <c:barChart>
        <c:barDir val="bar"/>
        <c:grouping val="stacked"/>
        <c:varyColors val="0"/>
        <c:ser>
          <c:idx val="0"/>
          <c:order val="0"/>
          <c:tx>
            <c:strRef>
              <c:f>Sheet1!$B$1</c:f>
              <c:strCache>
                <c:ptCount val="1"/>
                <c:pt idx="0">
                  <c:v>Never installed</c:v>
                </c:pt>
              </c:strCache>
            </c:strRef>
          </c:tx>
          <c:spPr>
            <a:solidFill>
              <a:srgbClr val="D81921"/>
            </a:solidFill>
            <a:effectLst/>
          </c:spPr>
          <c:invertIfNegative val="0"/>
          <c:dLbls>
            <c:numFmt formatCode="0.0&quot; t&quot;"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100 terraces</c:v>
                  </c:pt>
                </c:lvl>
              </c:multiLvlStrCache>
            </c:multiLvlStrRef>
          </c:cat>
          <c:val>
            <c:numRef>
              <c:f>Sheet1!$B$2:$B$2</c:f>
              <c:numCache>
                <c:formatCode>General</c:formatCode>
                <c:ptCount val="1"/>
                <c:pt idx="0">
                  <c:v>56.2</c:v>
                </c:pt>
              </c:numCache>
            </c:numRef>
          </c:val>
        </c:ser>
        <c:ser>
          <c:idx val="1"/>
          <c:order val="1"/>
          <c:tx>
            <c:strRef>
              <c:f>Sheet1!$C$1</c:f>
              <c:strCache>
                <c:ptCount val="1"/>
                <c:pt idx="0">
                  <c:v>Rehomed by a neighbour</c:v>
                </c:pt>
              </c:strCache>
            </c:strRef>
          </c:tx>
          <c:spPr>
            <a:solidFill>
              <a:srgbClr val="F7901A"/>
            </a:solidFill>
            <a:effectLst/>
          </c:spPr>
          <c:invertIfNegative val="0"/>
          <c:dLbls>
            <c:numFmt formatCode="0.0&quot; t&quot;"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100 terraces</c:v>
                  </c:pt>
                </c:lvl>
              </c:multiLvlStrCache>
            </c:multiLvlStrRef>
          </c:cat>
          <c:val>
            <c:numRef>
              <c:f>Sheet1!$C$2:$C$2</c:f>
              <c:numCache>
                <c:formatCode>General</c:formatCode>
                <c:ptCount val="1"/>
                <c:pt idx="0">
                  <c:v>4</c:v>
                </c:pt>
              </c:numCache>
            </c:numRef>
          </c:val>
        </c:ser>
        <c:ser>
          <c:idx val="2"/>
          <c:order val="2"/>
          <c:tx>
            <c:strRef>
              <c:f>Sheet1!$D$1</c:f>
              <c:strCache>
                <c:ptCount val="1"/>
                <c:pt idx="0">
                  <c:v>Still wasted</c:v>
                </c:pt>
              </c:strCache>
            </c:strRef>
          </c:tx>
          <c:spPr>
            <a:solidFill>
              <a:srgbClr val="7A7A7A"/>
            </a:solidFill>
            <a:effectLst/>
          </c:spPr>
          <c:invertIfNegative val="0"/>
          <c:dLbls>
            <c:numFmt formatCode="0.0&quot; t&quot;"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100 terraces</c:v>
                  </c:pt>
                </c:lvl>
              </c:multiLvlStrCache>
            </c:multiLvlStrRef>
          </c:cat>
          <c:val>
            <c:numRef>
              <c:f>Sheet1!$D$2:$D$2</c:f>
              <c:numCache>
                <c:formatCode>General</c:formatCode>
                <c:ptCount val="1"/>
                <c:pt idx="0">
                  <c:v>11.3</c:v>
                </c:pt>
              </c:numCache>
            </c:numRef>
          </c:val>
        </c:ser>
        <c:dLbls>
          <c:numFmt formatCode="0.0&quot; t&quot;"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E1E1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name]. Our idea is Right-Fit Homes, for the Planet track. In one line: help Sime Darby Property stop building what buyers tear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team details in the brackets. Five of us, one part each: data, the buyer screens, AI tagging and Neighbour Match, the SDP dashboard and maths, and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buyers renovate the moment they get their keys. In our simulated terrace data, 6 in 10 owners rip out the kitchen cabinets SDP just installed. The buyer pays twice, the materials go to landfill, and the carbon is spent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users. Buyers moving in, who pay for things they will rip out. Homeowners renovating, whose usable fittings have nowhere to go. And SDP, which builds what buyers don't want without knowing it. One loop helps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Right-Fit Homes is one loop with four functions. Track what owners remove. Advise the next buyers so they can say no before it is installed: that is where the waste is stopped. Match anything still removed with a neighbour who has the same house. Learn: tell SDP what to stop installing next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it different: it acts before the waste happens, not after. Same design means a removed wardrobe fits the neighbour's home exactly, so reuse actually works. The rip-out index makes every launch smarter. AI reads the messy notes owners already write. And our carbon numbers are deliberately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loop as it runs in our app. An owner writes a messy note, AI tags it, and it updates the rip-out index. The next buyer sees that index in the Advisor and chooses. Anything still removed goes on Neighbour Match. And SDP's dashboard turns it all into advice. One database, so each step feeds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project that for a pilot of 100 terraces, of 71.6 tonnes that owners would rip out, 56 tonnes are never installed and 4 more are rehomed. That is 84%, if Neighbour Match rehomes half of what is still removed, our target for a pilot. 46.6 tonnes of CO2e never released. SDP gains about RM148,000 after running costs and pays back after 36 homes, and buyers keep RM411,000. Every input is shown, so you can question one number without rejecting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SDP really do this? Yes: it uses data SDP already receives, needs no new equipment, and the prototype already works. The people involved are sales, product design, sustainability and legal. The one thing to confirm is which fittings can legally be left out; the app already keeps four uncertain ones out of the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start small: one launch of one house design, about 100 homes. Month one, confirm the eligible fittings and credits. Then build the rip-out index from past renovation applications, offer the choices at booking, run Neighbour Match after handover, and measure five numbers before scaling to more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 from our working prototype, not mock-ups: the SDP dashboard, the buyer Advisor, Neighbour Match on the township map, and AI tagging of a Malay note. The demo video walks through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us: we stop waste before it exists, using processes SDP already has. It is a working app, not slides. The numbers are honest and show their working. And it gets smarter with every launch.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demo video and the code are linked here, and the appendix has the details behind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which fittings a buyer can say no to, and the four we still need SDP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every input and step behind the 100-home numbers, straight from the app's What-if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how the app is built. Four layers; pages never touch the database, and only one file knows the data is SQLite. The dashed boxes are what changes for a real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DP_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DP_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DP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77240" y="2331720"/>
            <a:ext cx="10634472" cy="1143000"/>
          </a:xfrm>
          <a:prstGeom prst="rect">
            <a:avLst/>
          </a:prstGeom>
          <a:noFill/>
          <a:ln/>
        </p:spPr>
        <p:txBody>
          <a:bodyPr wrap="square" rtlCol="0"/>
          <a:lstStyle>
            <a:lvl1pPr algn="ctr" indent="0" marL="0">
              <a:buNone/>
              <a:defRPr lang="en-US" sz="6000" b="1" dirty="0">
                <a:solidFill>
                  <a:schemeClr val="bg1"/>
                </a:solidFill>
              </a:defRPr>
            </a:lvl1pPr>
          </a:lstStyle>
          <a:p>
            <a:pPr algn="ctr"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DP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Jayden-Jarred/Sime-Darby-Hackathon"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p:cNvSpPr txBox="1"/>
          <p:nvPr/>
        </p:nvSpPr>
        <p:spPr>
          <a:xfrm>
            <a:off x="777240" y="1783080"/>
            <a:ext cx="10634472" cy="365760"/>
          </a:xfrm>
          <a:prstGeom prst="rect">
            <a:avLst/>
          </a:prstGeom>
          <a:noFill/>
          <a:ln/>
        </p:spPr>
        <p:txBody>
          <a:bodyPr wrap="square" lIns="0" tIns="0" rIns="0" bIns="0" rtlCol="0" anchor="t"/>
          <a:lstStyle/>
          <a:p>
            <a:pPr algn="ctr" indent="0" marL="0">
              <a:buNone/>
            </a:pPr>
            <a:r>
              <a:rPr lang="en-US" sz="1400" b="1" spc="200" kern="0" dirty="0">
                <a:solidFill>
                  <a:schemeClr val="bg1"/>
                </a:solidFill>
              </a:rPr>
              <a:t>SDP UNIVERSITY HACKATHON 2026 · TOWNSHIP OF TOMORROW</a:t>
            </a:r>
            <a:endParaRPr lang="en-US" sz="1400" dirty="0"/>
          </a:p>
        </p:txBody>
      </p:sp>
      <p:sp>
        <p:nvSpPr>
          <p:cNvPr id="3" name="Text 0"/>
          <p:cNvSpPr/>
          <p:nvPr>
            <p:ph idx="100" type="title" hasCustomPrompt="1"/>
          </p:nvPr>
        </p:nvSpPr>
        <p:spPr>
          <a:xfrm>
            <a:off x="777240" y="2331720"/>
            <a:ext cx="10634472" cy="1143000"/>
          </a:xfrm>
          <a:prstGeom prst="rect">
            <a:avLst/>
          </a:prstGeom>
          <a:noFill/>
          <a:ln/>
        </p:spPr>
        <p:txBody>
          <a:bodyPr wrap="square" lIns="0" tIns="0" rIns="0" bIns="0" rtlCol="0" anchor="ctr"/>
          <a:lstStyle/>
          <a:p>
            <a:pPr algn="ctr" indent="0" marL="0">
              <a:buNone/>
            </a:pPr>
            <a:r>
              <a:rPr lang="en-US" sz="6000" b="1" dirty="0">
                <a:solidFill>
                  <a:schemeClr val="bg1"/>
                </a:solidFill>
              </a:rPr>
              <a:t>Right-Fit Homes</a:t>
            </a:r>
            <a:endParaRPr lang="en-US" sz="6000" dirty="0"/>
          </a:p>
        </p:txBody>
      </p:sp>
      <p:sp>
        <p:nvSpPr>
          <p:cNvPr id="4" name="Tagline"/>
          <p:cNvSpPr txBox="1"/>
          <p:nvPr/>
        </p:nvSpPr>
        <p:spPr>
          <a:xfrm>
            <a:off x="777240" y="3520440"/>
            <a:ext cx="10634472" cy="594360"/>
          </a:xfrm>
          <a:prstGeom prst="rect">
            <a:avLst/>
          </a:prstGeom>
          <a:noFill/>
          <a:ln/>
        </p:spPr>
        <p:txBody>
          <a:bodyPr wrap="square" lIns="0" tIns="0" rIns="0" bIns="0" rtlCol="0" anchor="t"/>
          <a:lstStyle/>
          <a:p>
            <a:pPr algn="ctr" indent="0" marL="0">
              <a:buNone/>
            </a:pPr>
            <a:r>
              <a:rPr lang="en-US" sz="2800" dirty="0">
                <a:solidFill>
                  <a:schemeClr val="bg1"/>
                </a:solidFill>
              </a:rPr>
              <a:t>Stop building what buyers tear out</a:t>
            </a:r>
            <a:endParaRPr lang="en-US" sz="2800" dirty="0"/>
          </a:p>
        </p:txBody>
      </p:sp>
      <p:sp>
        <p:nvSpPr>
          <p:cNvPr id="5" name="Track"/>
          <p:cNvSpPr txBox="1"/>
          <p:nvPr/>
        </p:nvSpPr>
        <p:spPr>
          <a:xfrm>
            <a:off x="777240" y="4160520"/>
            <a:ext cx="10634472" cy="411480"/>
          </a:xfrm>
          <a:prstGeom prst="rect">
            <a:avLst/>
          </a:prstGeom>
          <a:noFill/>
          <a:ln/>
        </p:spPr>
        <p:txBody>
          <a:bodyPr wrap="square" lIns="0" tIns="0" rIns="0" bIns="0" rtlCol="0" anchor="t"/>
          <a:lstStyle/>
          <a:p>
            <a:pPr algn="ctr" indent="0" marL="0">
              <a:buNone/>
            </a:pPr>
            <a:r>
              <a:rPr lang="en-US" sz="1600" dirty="0">
                <a:solidFill>
                  <a:schemeClr val="bg1"/>
                </a:solidFill>
              </a:rPr>
              <a:t>Planet track: circular economy and waste</a:t>
            </a:r>
            <a:endParaRPr lang="en-US" sz="1600" dirty="0"/>
          </a:p>
        </p:txBody>
      </p:sp>
      <p:sp>
        <p:nvSpPr>
          <p:cNvPr id="6" name="Team name"/>
          <p:cNvSpPr txBox="1"/>
          <p:nvPr/>
        </p:nvSpPr>
        <p:spPr>
          <a:xfrm>
            <a:off x="777240" y="5257800"/>
            <a:ext cx="10634472" cy="411480"/>
          </a:xfrm>
          <a:prstGeom prst="rect">
            <a:avLst/>
          </a:prstGeom>
          <a:noFill/>
          <a:ln/>
        </p:spPr>
        <p:txBody>
          <a:bodyPr wrap="square" lIns="0" tIns="0" rIns="0" bIns="0" rtlCol="0" anchor="t"/>
          <a:lstStyle/>
          <a:p>
            <a:pPr algn="ctr" indent="0" marL="0">
              <a:buNone/>
            </a:pPr>
            <a:r>
              <a:rPr lang="en-US" sz="1800" b="1" dirty="0">
                <a:solidFill>
                  <a:schemeClr val="bg1"/>
                </a:solidFill>
              </a:rPr>
              <a:t>[Team name]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Team Information</a:t>
            </a:r>
            <a:endParaRPr lang="en-US" sz="3600" dirty="0"/>
          </a:p>
        </p:txBody>
      </p:sp>
      <p:sp>
        <p:nvSpPr>
          <p:cNvPr id="3" name="Team details card"/>
          <p:cNvSpPr/>
          <p:nvPr/>
        </p:nvSpPr>
        <p:spPr>
          <a:xfrm>
            <a:off x="777240" y="1600200"/>
            <a:ext cx="4160520" cy="4663440"/>
          </a:xfrm>
          <a:prstGeom prst="roundRect">
            <a:avLst>
              <a:gd name="adj" fmla="val 2637"/>
            </a:avLst>
          </a:prstGeom>
          <a:solidFill>
            <a:schemeClr val="bg2"/>
          </a:solidFill>
          <a:ln w="12700">
            <a:solidFill>
              <a:schemeClr val="bg2"/>
            </a:solidFill>
            <a:prstDash val="solid"/>
          </a:ln>
        </p:spPr>
      </p:sp>
      <p:sp>
        <p:nvSpPr>
          <p:cNvPr id="4" name="TEAM NAME label"/>
          <p:cNvSpPr txBox="1"/>
          <p:nvPr/>
        </p:nvSpPr>
        <p:spPr>
          <a:xfrm>
            <a:off x="1097280" y="1828800"/>
            <a:ext cx="3566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TEAM NAME</a:t>
            </a:r>
            <a:endParaRPr lang="en-US" sz="1100" dirty="0"/>
          </a:p>
        </p:txBody>
      </p:sp>
      <p:sp>
        <p:nvSpPr>
          <p:cNvPr id="5" name="TEAM NAME value"/>
          <p:cNvSpPr txBox="1"/>
          <p:nvPr/>
        </p:nvSpPr>
        <p:spPr>
          <a:xfrm>
            <a:off x="1097280" y="2103120"/>
            <a:ext cx="3566160" cy="411480"/>
          </a:xfrm>
          <a:prstGeom prst="rect">
            <a:avLst/>
          </a:prstGeom>
          <a:noFill/>
          <a:ln/>
        </p:spPr>
        <p:txBody>
          <a:bodyPr wrap="square" lIns="0" tIns="0" rIns="0" bIns="0" rtlCol="0" anchor="t"/>
          <a:lstStyle/>
          <a:p>
            <a:pPr indent="0" marL="0">
              <a:buNone/>
            </a:pPr>
            <a:r>
              <a:rPr lang="en-US" sz="1700" b="1" dirty="0">
                <a:solidFill>
                  <a:schemeClr val="tx1"/>
                </a:solidFill>
              </a:rPr>
              <a:t>[Team name]</a:t>
            </a:r>
            <a:endParaRPr lang="en-US" sz="1700" dirty="0"/>
          </a:p>
        </p:txBody>
      </p:sp>
      <p:sp>
        <p:nvSpPr>
          <p:cNvPr id="6" name="TEAM LEADER label"/>
          <p:cNvSpPr txBox="1"/>
          <p:nvPr/>
        </p:nvSpPr>
        <p:spPr>
          <a:xfrm>
            <a:off x="1097280" y="2697480"/>
            <a:ext cx="3566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TEAM LEADER</a:t>
            </a:r>
            <a:endParaRPr lang="en-US" sz="1100" dirty="0"/>
          </a:p>
        </p:txBody>
      </p:sp>
      <p:sp>
        <p:nvSpPr>
          <p:cNvPr id="7" name="TEAM LEADER value"/>
          <p:cNvSpPr txBox="1"/>
          <p:nvPr/>
        </p:nvSpPr>
        <p:spPr>
          <a:xfrm>
            <a:off x="1097280" y="2971800"/>
            <a:ext cx="3566160" cy="411480"/>
          </a:xfrm>
          <a:prstGeom prst="rect">
            <a:avLst/>
          </a:prstGeom>
          <a:noFill/>
          <a:ln/>
        </p:spPr>
        <p:txBody>
          <a:bodyPr wrap="square" lIns="0" tIns="0" rIns="0" bIns="0" rtlCol="0" anchor="t"/>
          <a:lstStyle/>
          <a:p>
            <a:pPr indent="0" marL="0">
              <a:buNone/>
            </a:pPr>
            <a:r>
              <a:rPr lang="en-US" sz="1700" b="1" dirty="0">
                <a:solidFill>
                  <a:schemeClr val="tx1"/>
                </a:solidFill>
              </a:rPr>
              <a:t>[Leader's name]</a:t>
            </a:r>
            <a:endParaRPr lang="en-US" sz="1700" dirty="0"/>
          </a:p>
        </p:txBody>
      </p:sp>
      <p:sp>
        <p:nvSpPr>
          <p:cNvPr id="8" name="UNIVERSITY label"/>
          <p:cNvSpPr txBox="1"/>
          <p:nvPr/>
        </p:nvSpPr>
        <p:spPr>
          <a:xfrm>
            <a:off x="1097280" y="3566160"/>
            <a:ext cx="3566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UNIVERSITY</a:t>
            </a:r>
            <a:endParaRPr lang="en-US" sz="1100" dirty="0"/>
          </a:p>
        </p:txBody>
      </p:sp>
      <p:sp>
        <p:nvSpPr>
          <p:cNvPr id="9" name="UNIVERSITY value"/>
          <p:cNvSpPr txBox="1"/>
          <p:nvPr/>
        </p:nvSpPr>
        <p:spPr>
          <a:xfrm>
            <a:off x="1097280" y="3840480"/>
            <a:ext cx="3566160" cy="411480"/>
          </a:xfrm>
          <a:prstGeom prst="rect">
            <a:avLst/>
          </a:prstGeom>
          <a:noFill/>
          <a:ln/>
        </p:spPr>
        <p:txBody>
          <a:bodyPr wrap="square" lIns="0" tIns="0" rIns="0" bIns="0" rtlCol="0" anchor="t"/>
          <a:lstStyle/>
          <a:p>
            <a:pPr indent="0" marL="0">
              <a:buNone/>
            </a:pPr>
            <a:r>
              <a:rPr lang="en-US" sz="1700" b="1" dirty="0">
                <a:solidFill>
                  <a:schemeClr val="tx1"/>
                </a:solidFill>
              </a:rPr>
              <a:t>[University]</a:t>
            </a:r>
            <a:endParaRPr lang="en-US" sz="1700" dirty="0"/>
          </a:p>
        </p:txBody>
      </p:sp>
      <p:sp>
        <p:nvSpPr>
          <p:cNvPr id="10" name="EMAIL label"/>
          <p:cNvSpPr txBox="1"/>
          <p:nvPr/>
        </p:nvSpPr>
        <p:spPr>
          <a:xfrm>
            <a:off x="1097280" y="4434840"/>
            <a:ext cx="3566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EMAIL</a:t>
            </a:r>
            <a:endParaRPr lang="en-US" sz="1100" dirty="0"/>
          </a:p>
        </p:txBody>
      </p:sp>
      <p:sp>
        <p:nvSpPr>
          <p:cNvPr id="11" name="EMAIL value"/>
          <p:cNvSpPr txBox="1"/>
          <p:nvPr/>
        </p:nvSpPr>
        <p:spPr>
          <a:xfrm>
            <a:off x="1097280" y="4709160"/>
            <a:ext cx="3566160" cy="411480"/>
          </a:xfrm>
          <a:prstGeom prst="rect">
            <a:avLst/>
          </a:prstGeom>
          <a:noFill/>
          <a:ln/>
        </p:spPr>
        <p:txBody>
          <a:bodyPr wrap="square" lIns="0" tIns="0" rIns="0" bIns="0" rtlCol="0" anchor="t"/>
          <a:lstStyle/>
          <a:p>
            <a:pPr indent="0" marL="0">
              <a:buNone/>
            </a:pPr>
            <a:r>
              <a:rPr lang="en-US" sz="1700" b="1" dirty="0">
                <a:solidFill>
                  <a:schemeClr val="tx1"/>
                </a:solidFill>
              </a:rPr>
              <a:t>[Team leader's email]</a:t>
            </a:r>
            <a:endParaRPr lang="en-US" sz="1700" dirty="0"/>
          </a:p>
        </p:txBody>
      </p:sp>
      <p:sp>
        <p:nvSpPr>
          <p:cNvPr id="12" name="CONTACT NUMBER label"/>
          <p:cNvSpPr txBox="1"/>
          <p:nvPr/>
        </p:nvSpPr>
        <p:spPr>
          <a:xfrm>
            <a:off x="1097280" y="5303520"/>
            <a:ext cx="35661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CONTACT NUMBER</a:t>
            </a:r>
            <a:endParaRPr lang="en-US" sz="1100" dirty="0"/>
          </a:p>
        </p:txBody>
      </p:sp>
      <p:sp>
        <p:nvSpPr>
          <p:cNvPr id="13" name="CONTACT NUMBER value"/>
          <p:cNvSpPr txBox="1"/>
          <p:nvPr/>
        </p:nvSpPr>
        <p:spPr>
          <a:xfrm>
            <a:off x="1097280" y="5577840"/>
            <a:ext cx="3566160" cy="411480"/>
          </a:xfrm>
          <a:prstGeom prst="rect">
            <a:avLst/>
          </a:prstGeom>
          <a:noFill/>
          <a:ln/>
        </p:spPr>
        <p:txBody>
          <a:bodyPr wrap="square" lIns="0" tIns="0" rIns="0" bIns="0" rtlCol="0" anchor="t"/>
          <a:lstStyle/>
          <a:p>
            <a:pPr indent="0" marL="0">
              <a:buNone/>
            </a:pPr>
            <a:r>
              <a:rPr lang="en-US" sz="1700" b="1" dirty="0">
                <a:solidFill>
                  <a:schemeClr val="tx1"/>
                </a:solidFill>
              </a:rPr>
              <a:t>[Phone number]</a:t>
            </a:r>
            <a:endParaRPr lang="en-US" sz="1700" dirty="0"/>
          </a:p>
        </p:txBody>
      </p:sp>
      <p:sp>
        <p:nvSpPr>
          <p:cNvPr id="14" name="Members heading"/>
          <p:cNvSpPr txBox="1"/>
          <p:nvPr/>
        </p:nvSpPr>
        <p:spPr>
          <a:xfrm>
            <a:off x="5349240" y="1600200"/>
            <a:ext cx="6035040" cy="365760"/>
          </a:xfrm>
          <a:prstGeom prst="rect">
            <a:avLst/>
          </a:prstGeom>
          <a:noFill/>
          <a:ln/>
        </p:spPr>
        <p:txBody>
          <a:bodyPr wrap="square" lIns="0" tIns="0" rIns="0" bIns="0" rtlCol="0" anchor="t"/>
          <a:lstStyle/>
          <a:p>
            <a:pPr indent="0" marL="0">
              <a:buNone/>
            </a:pPr>
            <a:r>
              <a:rPr lang="en-US" sz="1800" b="1" dirty="0">
                <a:solidFill>
                  <a:schemeClr val="tx1"/>
                </a:solidFill>
              </a:rPr>
              <a:t>Team members</a:t>
            </a:r>
            <a:endParaRPr lang="en-US" sz="1800" dirty="0"/>
          </a:p>
        </p:txBody>
      </p:sp>
      <p:sp>
        <p:nvSpPr>
          <p:cNvPr id="15" name="Step 1 circle"/>
          <p:cNvSpPr/>
          <p:nvPr/>
        </p:nvSpPr>
        <p:spPr>
          <a:xfrm>
            <a:off x="5349240" y="2194560"/>
            <a:ext cx="502920" cy="502920"/>
          </a:xfrm>
          <a:prstGeom prst="ellipse">
            <a:avLst/>
          </a:prstGeom>
          <a:solidFill>
            <a:schemeClr val="accent1"/>
          </a:solidFill>
          <a:ln w="12700">
            <a:solidFill>
              <a:schemeClr val="accent1"/>
            </a:solidFill>
            <a:prstDash val="solid"/>
          </a:ln>
        </p:spPr>
      </p:sp>
      <p:sp>
        <p:nvSpPr>
          <p:cNvPr id="16" name="Step 1 number"/>
          <p:cNvSpPr txBox="1"/>
          <p:nvPr/>
        </p:nvSpPr>
        <p:spPr>
          <a:xfrm>
            <a:off x="5349240" y="21945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7" name="Member 1 name"/>
          <p:cNvSpPr txBox="1"/>
          <p:nvPr/>
        </p:nvSpPr>
        <p:spPr>
          <a:xfrm>
            <a:off x="6035040" y="2148840"/>
            <a:ext cx="5349240" cy="329184"/>
          </a:xfrm>
          <a:prstGeom prst="rect">
            <a:avLst/>
          </a:prstGeom>
          <a:noFill/>
          <a:ln/>
        </p:spPr>
        <p:txBody>
          <a:bodyPr wrap="square" lIns="0" tIns="0" rIns="0" bIns="0" rtlCol="0" anchor="t"/>
          <a:lstStyle/>
          <a:p>
            <a:pPr indent="0" marL="0">
              <a:buNone/>
            </a:pPr>
            <a:r>
              <a:rPr lang="en-US" sz="1600" b="1" dirty="0">
                <a:solidFill>
                  <a:schemeClr val="tx1"/>
                </a:solidFill>
              </a:rPr>
              <a:t>[Member name]</a:t>
            </a:r>
            <a:endParaRPr lang="en-US" sz="1600" dirty="0"/>
          </a:p>
        </p:txBody>
      </p:sp>
      <p:sp>
        <p:nvSpPr>
          <p:cNvPr id="18" name="Member 1 role"/>
          <p:cNvSpPr txBox="1"/>
          <p:nvPr/>
        </p:nvSpPr>
        <p:spPr>
          <a:xfrm>
            <a:off x="6035040" y="2478024"/>
            <a:ext cx="5349240" cy="310896"/>
          </a:xfrm>
          <a:prstGeom prst="rect">
            <a:avLst/>
          </a:prstGeom>
          <a:noFill/>
          <a:ln/>
        </p:spPr>
        <p:txBody>
          <a:bodyPr wrap="square" lIns="0" tIns="0" rIns="0" bIns="0" rtlCol="0" anchor="t"/>
          <a:lstStyle/>
          <a:p>
            <a:pPr indent="0" marL="0">
              <a:buNone/>
            </a:pPr>
            <a:r>
              <a:rPr lang="en-US" sz="1300" dirty="0">
                <a:solidFill>
                  <a:schemeClr val="tx2"/>
                </a:solidFill>
              </a:rPr>
              <a:t>Data: simulated records, sourced carbon and cost figures</a:t>
            </a:r>
            <a:endParaRPr lang="en-US" sz="1300" dirty="0"/>
          </a:p>
        </p:txBody>
      </p:sp>
      <p:sp>
        <p:nvSpPr>
          <p:cNvPr id="19" name="Step 2 circle"/>
          <p:cNvSpPr/>
          <p:nvPr/>
        </p:nvSpPr>
        <p:spPr>
          <a:xfrm>
            <a:off x="5349240" y="3017520"/>
            <a:ext cx="502920" cy="502920"/>
          </a:xfrm>
          <a:prstGeom prst="ellipse">
            <a:avLst/>
          </a:prstGeom>
          <a:solidFill>
            <a:schemeClr val="accent1"/>
          </a:solidFill>
          <a:ln w="12700">
            <a:solidFill>
              <a:schemeClr val="accent1"/>
            </a:solidFill>
            <a:prstDash val="solid"/>
          </a:ln>
        </p:spPr>
      </p:sp>
      <p:sp>
        <p:nvSpPr>
          <p:cNvPr id="20" name="Step 2 number"/>
          <p:cNvSpPr txBox="1"/>
          <p:nvPr/>
        </p:nvSpPr>
        <p:spPr>
          <a:xfrm>
            <a:off x="5349240" y="3017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1" name="Member 2 name"/>
          <p:cNvSpPr txBox="1"/>
          <p:nvPr/>
        </p:nvSpPr>
        <p:spPr>
          <a:xfrm>
            <a:off x="6035040" y="2971800"/>
            <a:ext cx="5349240" cy="329184"/>
          </a:xfrm>
          <a:prstGeom prst="rect">
            <a:avLst/>
          </a:prstGeom>
          <a:noFill/>
          <a:ln/>
        </p:spPr>
        <p:txBody>
          <a:bodyPr wrap="square" lIns="0" tIns="0" rIns="0" bIns="0" rtlCol="0" anchor="t"/>
          <a:lstStyle/>
          <a:p>
            <a:pPr indent="0" marL="0">
              <a:buNone/>
            </a:pPr>
            <a:r>
              <a:rPr lang="en-US" sz="1600" b="1" dirty="0">
                <a:solidFill>
                  <a:schemeClr val="tx1"/>
                </a:solidFill>
              </a:rPr>
              <a:t>Jayden Anthony</a:t>
            </a:r>
            <a:endParaRPr lang="en-US" sz="1600" dirty="0"/>
          </a:p>
        </p:txBody>
      </p:sp>
      <p:sp>
        <p:nvSpPr>
          <p:cNvPr id="22" name="Member 2 role"/>
          <p:cNvSpPr txBox="1"/>
          <p:nvPr/>
        </p:nvSpPr>
        <p:spPr>
          <a:xfrm>
            <a:off x="6035040" y="3300984"/>
            <a:ext cx="5349240" cy="310896"/>
          </a:xfrm>
          <a:prstGeom prst="rect">
            <a:avLst/>
          </a:prstGeom>
          <a:noFill/>
          <a:ln/>
        </p:spPr>
        <p:txBody>
          <a:bodyPr wrap="square" lIns="0" tIns="0" rIns="0" bIns="0" rtlCol="0" anchor="t"/>
          <a:lstStyle/>
          <a:p>
            <a:pPr indent="0" marL="0">
              <a:buNone/>
            </a:pPr>
            <a:r>
              <a:rPr lang="en-US" sz="1300" dirty="0">
                <a:solidFill>
                  <a:schemeClr val="tx2"/>
                </a:solidFill>
              </a:rPr>
              <a:t>Buyer Advisor and the buyer flow</a:t>
            </a:r>
            <a:endParaRPr lang="en-US" sz="1300" dirty="0"/>
          </a:p>
        </p:txBody>
      </p:sp>
      <p:sp>
        <p:nvSpPr>
          <p:cNvPr id="23" name="Step 3 circle"/>
          <p:cNvSpPr/>
          <p:nvPr/>
        </p:nvSpPr>
        <p:spPr>
          <a:xfrm>
            <a:off x="5349240" y="3840480"/>
            <a:ext cx="502920" cy="502920"/>
          </a:xfrm>
          <a:prstGeom prst="ellipse">
            <a:avLst/>
          </a:prstGeom>
          <a:solidFill>
            <a:schemeClr val="accent1"/>
          </a:solidFill>
          <a:ln w="12700">
            <a:solidFill>
              <a:schemeClr val="accent1"/>
            </a:solidFill>
            <a:prstDash val="solid"/>
          </a:ln>
        </p:spPr>
      </p:sp>
      <p:sp>
        <p:nvSpPr>
          <p:cNvPr id="24" name="Step 3 number"/>
          <p:cNvSpPr txBox="1"/>
          <p:nvPr/>
        </p:nvSpPr>
        <p:spPr>
          <a:xfrm>
            <a:off x="5349240" y="3840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Member 3 name"/>
          <p:cNvSpPr txBox="1"/>
          <p:nvPr/>
        </p:nvSpPr>
        <p:spPr>
          <a:xfrm>
            <a:off x="6035040" y="3794760"/>
            <a:ext cx="5349240" cy="329184"/>
          </a:xfrm>
          <a:prstGeom prst="rect">
            <a:avLst/>
          </a:prstGeom>
          <a:noFill/>
          <a:ln/>
        </p:spPr>
        <p:txBody>
          <a:bodyPr wrap="square" lIns="0" tIns="0" rIns="0" bIns="0" rtlCol="0" anchor="t"/>
          <a:lstStyle/>
          <a:p>
            <a:pPr indent="0" marL="0">
              <a:buNone/>
            </a:pPr>
            <a:r>
              <a:rPr lang="en-US" sz="1600" b="1" dirty="0">
                <a:solidFill>
                  <a:schemeClr val="tx1"/>
                </a:solidFill>
              </a:rPr>
              <a:t>[Member name]</a:t>
            </a:r>
            <a:endParaRPr lang="en-US" sz="1600" dirty="0"/>
          </a:p>
        </p:txBody>
      </p:sp>
      <p:sp>
        <p:nvSpPr>
          <p:cNvPr id="26" name="Member 3 role"/>
          <p:cNvSpPr txBox="1"/>
          <p:nvPr/>
        </p:nvSpPr>
        <p:spPr>
          <a:xfrm>
            <a:off x="6035040" y="4123944"/>
            <a:ext cx="5349240" cy="310896"/>
          </a:xfrm>
          <a:prstGeom prst="rect">
            <a:avLst/>
          </a:prstGeom>
          <a:noFill/>
          <a:ln/>
        </p:spPr>
        <p:txBody>
          <a:bodyPr wrap="square" lIns="0" tIns="0" rIns="0" bIns="0" rtlCol="0" anchor="t"/>
          <a:lstStyle/>
          <a:p>
            <a:pPr indent="0" marL="0">
              <a:buNone/>
            </a:pPr>
            <a:r>
              <a:rPr lang="en-US" sz="1300" dirty="0">
                <a:solidFill>
                  <a:schemeClr val="tx2"/>
                </a:solidFill>
              </a:rPr>
              <a:t>AI tagging and Neighbour Match</a:t>
            </a:r>
            <a:endParaRPr lang="en-US" sz="1300" dirty="0"/>
          </a:p>
        </p:txBody>
      </p:sp>
      <p:sp>
        <p:nvSpPr>
          <p:cNvPr id="27" name="Step 4 circle"/>
          <p:cNvSpPr/>
          <p:nvPr/>
        </p:nvSpPr>
        <p:spPr>
          <a:xfrm>
            <a:off x="5349240" y="4663440"/>
            <a:ext cx="502920" cy="502920"/>
          </a:xfrm>
          <a:prstGeom prst="ellipse">
            <a:avLst/>
          </a:prstGeom>
          <a:solidFill>
            <a:schemeClr val="accent1"/>
          </a:solidFill>
          <a:ln w="12700">
            <a:solidFill>
              <a:schemeClr val="accent1"/>
            </a:solidFill>
            <a:prstDash val="solid"/>
          </a:ln>
        </p:spPr>
      </p:sp>
      <p:sp>
        <p:nvSpPr>
          <p:cNvPr id="28" name="Step 4 number"/>
          <p:cNvSpPr txBox="1"/>
          <p:nvPr/>
        </p:nvSpPr>
        <p:spPr>
          <a:xfrm>
            <a:off x="5349240" y="46634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9" name="Member 4 name"/>
          <p:cNvSpPr txBox="1"/>
          <p:nvPr/>
        </p:nvSpPr>
        <p:spPr>
          <a:xfrm>
            <a:off x="6035040" y="4617720"/>
            <a:ext cx="5349240" cy="329184"/>
          </a:xfrm>
          <a:prstGeom prst="rect">
            <a:avLst/>
          </a:prstGeom>
          <a:noFill/>
          <a:ln/>
        </p:spPr>
        <p:txBody>
          <a:bodyPr wrap="square" lIns="0" tIns="0" rIns="0" bIns="0" rtlCol="0" anchor="t"/>
          <a:lstStyle/>
          <a:p>
            <a:pPr indent="0" marL="0">
              <a:buNone/>
            </a:pPr>
            <a:r>
              <a:rPr lang="en-US" sz="1600" b="1" dirty="0">
                <a:solidFill>
                  <a:schemeClr val="tx1"/>
                </a:solidFill>
              </a:rPr>
              <a:t>Zi Xuan</a:t>
            </a:r>
            <a:endParaRPr lang="en-US" sz="1600" dirty="0"/>
          </a:p>
        </p:txBody>
      </p:sp>
      <p:sp>
        <p:nvSpPr>
          <p:cNvPr id="30" name="Member 4 role"/>
          <p:cNvSpPr txBox="1"/>
          <p:nvPr/>
        </p:nvSpPr>
        <p:spPr>
          <a:xfrm>
            <a:off x="6035040" y="4946904"/>
            <a:ext cx="5349240" cy="310896"/>
          </a:xfrm>
          <a:prstGeom prst="rect">
            <a:avLst/>
          </a:prstGeom>
          <a:noFill/>
          <a:ln/>
        </p:spPr>
        <p:txBody>
          <a:bodyPr wrap="square" lIns="0" tIns="0" rIns="0" bIns="0" rtlCol="0" anchor="t"/>
          <a:lstStyle/>
          <a:p>
            <a:pPr indent="0" marL="0">
              <a:buNone/>
            </a:pPr>
            <a:r>
              <a:rPr lang="en-US" sz="1300" dirty="0">
                <a:solidFill>
                  <a:schemeClr val="tx2"/>
                </a:solidFill>
              </a:rPr>
              <a:t>SDP dashboard, What-if, database and architecture</a:t>
            </a:r>
            <a:endParaRPr lang="en-US" sz="1300" dirty="0"/>
          </a:p>
        </p:txBody>
      </p:sp>
      <p:sp>
        <p:nvSpPr>
          <p:cNvPr id="31" name="Step 5 circle"/>
          <p:cNvSpPr/>
          <p:nvPr/>
        </p:nvSpPr>
        <p:spPr>
          <a:xfrm>
            <a:off x="5349240" y="5486400"/>
            <a:ext cx="502920" cy="502920"/>
          </a:xfrm>
          <a:prstGeom prst="ellipse">
            <a:avLst/>
          </a:prstGeom>
          <a:solidFill>
            <a:schemeClr val="accent1"/>
          </a:solidFill>
          <a:ln w="12700">
            <a:solidFill>
              <a:schemeClr val="accent1"/>
            </a:solidFill>
            <a:prstDash val="solid"/>
          </a:ln>
        </p:spPr>
      </p:sp>
      <p:sp>
        <p:nvSpPr>
          <p:cNvPr id="32" name="Step 5 number"/>
          <p:cNvSpPr txBox="1"/>
          <p:nvPr/>
        </p:nvSpPr>
        <p:spPr>
          <a:xfrm>
            <a:off x="5349240" y="54864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3" name="Member 5 name"/>
          <p:cNvSpPr txBox="1"/>
          <p:nvPr/>
        </p:nvSpPr>
        <p:spPr>
          <a:xfrm>
            <a:off x="6035040" y="5440680"/>
            <a:ext cx="5349240" cy="329184"/>
          </a:xfrm>
          <a:prstGeom prst="rect">
            <a:avLst/>
          </a:prstGeom>
          <a:noFill/>
          <a:ln/>
        </p:spPr>
        <p:txBody>
          <a:bodyPr wrap="square" lIns="0" tIns="0" rIns="0" bIns="0" rtlCol="0" anchor="t"/>
          <a:lstStyle/>
          <a:p>
            <a:pPr indent="0" marL="0">
              <a:buNone/>
            </a:pPr>
            <a:r>
              <a:rPr lang="en-US" sz="1600" b="1" dirty="0">
                <a:solidFill>
                  <a:schemeClr val="tx1"/>
                </a:solidFill>
              </a:rPr>
              <a:t>[Member name]</a:t>
            </a:r>
            <a:endParaRPr lang="en-US" sz="1600" dirty="0"/>
          </a:p>
        </p:txBody>
      </p:sp>
      <p:sp>
        <p:nvSpPr>
          <p:cNvPr id="34" name="Member 5 role"/>
          <p:cNvSpPr txBox="1"/>
          <p:nvPr/>
        </p:nvSpPr>
        <p:spPr>
          <a:xfrm>
            <a:off x="6035040" y="5769864"/>
            <a:ext cx="5349240" cy="310896"/>
          </a:xfrm>
          <a:prstGeom prst="rect">
            <a:avLst/>
          </a:prstGeom>
          <a:noFill/>
          <a:ln/>
        </p:spPr>
        <p:txBody>
          <a:bodyPr wrap="square" lIns="0" tIns="0" rIns="0" bIns="0" rtlCol="0" anchor="t"/>
          <a:lstStyle/>
          <a:p>
            <a:pPr indent="0" marL="0">
              <a:buNone/>
            </a:pPr>
            <a:r>
              <a:rPr lang="en-US" sz="1300" dirty="0">
                <a:solidFill>
                  <a:schemeClr val="tx2"/>
                </a:solidFill>
              </a:rPr>
              <a:t>Pitch, proposal and questions for SDP mentors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1. The Problem</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Buyers tear out brand-new fittings soon after they get their keys</a:t>
            </a:r>
            <a:endParaRPr lang="en-US" sz="1800" dirty="0"/>
          </a:p>
        </p:txBody>
      </p:sp>
      <p:sp>
        <p:nvSpPr>
          <p:cNvPr id="4" name="Buyers pay twice circle"/>
          <p:cNvSpPr/>
          <p:nvPr/>
        </p:nvSpPr>
        <p:spPr>
          <a:xfrm>
            <a:off x="777240" y="2103120"/>
            <a:ext cx="731520" cy="731520"/>
          </a:xfrm>
          <a:prstGeom prst="ellipse">
            <a:avLst/>
          </a:prstGeom>
          <a:solidFill>
            <a:schemeClr val="accent1"/>
          </a:solidFill>
          <a:ln w="12700">
            <a:solidFill>
              <a:schemeClr val="accent1"/>
            </a:solidFill>
            <a:prstDash val="solid"/>
          </a:ln>
        </p:spPr>
      </p:sp>
      <p:pic>
        <p:nvPicPr>
          <p:cNvPr id="5" name="Buyers pay twice" descr="Buyers pay twice">    </p:cNvPr>
          <p:cNvPicPr>
            <a:picLocks noChangeAspect="1"/>
          </p:cNvPicPr>
          <p:nvPr/>
        </p:nvPicPr>
        <p:blipFill>
          <a:blip r:embed="rId1"/>
          <a:stretch>
            <a:fillRect/>
          </a:stretch>
        </p:blipFill>
        <p:spPr>
          <a:xfrm>
            <a:off x="974750" y="2300630"/>
            <a:ext cx="336499" cy="336499"/>
          </a:xfrm>
          <a:prstGeom prst="rect">
            <a:avLst/>
          </a:prstGeom>
        </p:spPr>
      </p:pic>
      <p:sp>
        <p:nvSpPr>
          <p:cNvPr id="6" name="Buyers pay twice"/>
          <p:cNvSpPr txBox="1"/>
          <p:nvPr/>
        </p:nvSpPr>
        <p:spPr>
          <a:xfrm>
            <a:off x="1737360" y="2084832"/>
            <a:ext cx="3931920" cy="384048"/>
          </a:xfrm>
          <a:prstGeom prst="rect">
            <a:avLst/>
          </a:prstGeom>
          <a:noFill/>
          <a:ln/>
        </p:spPr>
        <p:txBody>
          <a:bodyPr wrap="square" lIns="0" tIns="0" rIns="0" bIns="0" rtlCol="0" anchor="t"/>
          <a:lstStyle/>
          <a:p>
            <a:pPr indent="0" marL="0">
              <a:buNone/>
            </a:pPr>
            <a:r>
              <a:rPr lang="en-US" sz="1800" b="1" dirty="0">
                <a:solidFill>
                  <a:schemeClr val="tx1"/>
                </a:solidFill>
              </a:rPr>
              <a:t>Buyers pay twice</a:t>
            </a:r>
            <a:endParaRPr lang="en-US" sz="1800" dirty="0"/>
          </a:p>
        </p:txBody>
      </p:sp>
      <p:sp>
        <p:nvSpPr>
          <p:cNvPr id="7" name="Buyers pay twice detail"/>
          <p:cNvSpPr txBox="1"/>
          <p:nvPr/>
        </p:nvSpPr>
        <p:spPr>
          <a:xfrm>
            <a:off x="1737360" y="2487168"/>
            <a:ext cx="3931920" cy="685800"/>
          </a:xfrm>
          <a:prstGeom prst="rect">
            <a:avLst/>
          </a:prstGeom>
          <a:noFill/>
          <a:ln/>
        </p:spPr>
        <p:txBody>
          <a:bodyPr wrap="square" lIns="0" tIns="0" rIns="0" bIns="0" rtlCol="0" anchor="t"/>
          <a:lstStyle/>
          <a:p>
            <a:pPr indent="0" marL="0">
              <a:buNone/>
            </a:pPr>
            <a:r>
              <a:rPr lang="en-US" sz="1400" dirty="0">
                <a:solidFill>
                  <a:schemeClr val="tx2"/>
                </a:solidFill>
              </a:rPr>
              <a:t>Once for the fitting in the house price, then again to remove and replace it.</a:t>
            </a:r>
            <a:endParaRPr lang="en-US" sz="1400" dirty="0"/>
          </a:p>
        </p:txBody>
      </p:sp>
      <p:sp>
        <p:nvSpPr>
          <p:cNvPr id="8" name="Usable materials go to landfill circle"/>
          <p:cNvSpPr/>
          <p:nvPr/>
        </p:nvSpPr>
        <p:spPr>
          <a:xfrm>
            <a:off x="777240" y="3474720"/>
            <a:ext cx="731520" cy="731520"/>
          </a:xfrm>
          <a:prstGeom prst="ellipse">
            <a:avLst/>
          </a:prstGeom>
          <a:solidFill>
            <a:schemeClr val="accent1"/>
          </a:solidFill>
          <a:ln w="12700">
            <a:solidFill>
              <a:schemeClr val="accent1"/>
            </a:solidFill>
            <a:prstDash val="solid"/>
          </a:ln>
        </p:spPr>
      </p:sp>
      <p:pic>
        <p:nvPicPr>
          <p:cNvPr id="9" name="Usable materials go to landfill" descr="Usable materials go to landfill">    </p:cNvPr>
          <p:cNvPicPr>
            <a:picLocks noChangeAspect="1"/>
          </p:cNvPicPr>
          <p:nvPr/>
        </p:nvPicPr>
        <p:blipFill>
          <a:blip r:embed="rId2"/>
          <a:stretch>
            <a:fillRect/>
          </a:stretch>
        </p:blipFill>
        <p:spPr>
          <a:xfrm>
            <a:off x="974750" y="3672230"/>
            <a:ext cx="336499" cy="336499"/>
          </a:xfrm>
          <a:prstGeom prst="rect">
            <a:avLst/>
          </a:prstGeom>
        </p:spPr>
      </p:pic>
      <p:sp>
        <p:nvSpPr>
          <p:cNvPr id="10" name="Usable materials go to landfill"/>
          <p:cNvSpPr txBox="1"/>
          <p:nvPr/>
        </p:nvSpPr>
        <p:spPr>
          <a:xfrm>
            <a:off x="1737360" y="3456432"/>
            <a:ext cx="3931920" cy="384048"/>
          </a:xfrm>
          <a:prstGeom prst="rect">
            <a:avLst/>
          </a:prstGeom>
          <a:noFill/>
          <a:ln/>
        </p:spPr>
        <p:txBody>
          <a:bodyPr wrap="square" lIns="0" tIns="0" rIns="0" bIns="0" rtlCol="0" anchor="t"/>
          <a:lstStyle/>
          <a:p>
            <a:pPr indent="0" marL="0">
              <a:buNone/>
            </a:pPr>
            <a:r>
              <a:rPr lang="en-US" sz="1800" b="1" dirty="0">
                <a:solidFill>
                  <a:schemeClr val="tx1"/>
                </a:solidFill>
              </a:rPr>
              <a:t>Usable materials go to landfill</a:t>
            </a:r>
            <a:endParaRPr lang="en-US" sz="1800" dirty="0"/>
          </a:p>
        </p:txBody>
      </p:sp>
      <p:sp>
        <p:nvSpPr>
          <p:cNvPr id="11" name="Usable materials go to landfill detail"/>
          <p:cNvSpPr txBox="1"/>
          <p:nvPr/>
        </p:nvSpPr>
        <p:spPr>
          <a:xfrm>
            <a:off x="1737360" y="3858768"/>
            <a:ext cx="3931920" cy="685800"/>
          </a:xfrm>
          <a:prstGeom prst="rect">
            <a:avLst/>
          </a:prstGeom>
          <a:noFill/>
          <a:ln/>
        </p:spPr>
        <p:txBody>
          <a:bodyPr wrap="square" lIns="0" tIns="0" rIns="0" bIns="0" rtlCol="0" anchor="t"/>
          <a:lstStyle/>
          <a:p>
            <a:pPr indent="0" marL="0">
              <a:buNone/>
            </a:pPr>
            <a:r>
              <a:rPr lang="en-US" sz="1400" dirty="0">
                <a:solidFill>
                  <a:schemeClr val="tx2"/>
                </a:solidFill>
              </a:rPr>
              <a:t>Never-used kitchen cabinets, tops and wardrobes end up in skips.</a:t>
            </a:r>
            <a:endParaRPr lang="en-US" sz="1400" dirty="0"/>
          </a:p>
        </p:txBody>
      </p:sp>
      <p:sp>
        <p:nvSpPr>
          <p:cNvPr id="12" name="Carbon is spent twice circle"/>
          <p:cNvSpPr/>
          <p:nvPr/>
        </p:nvSpPr>
        <p:spPr>
          <a:xfrm>
            <a:off x="777240" y="4846320"/>
            <a:ext cx="731520" cy="731520"/>
          </a:xfrm>
          <a:prstGeom prst="ellipse">
            <a:avLst/>
          </a:prstGeom>
          <a:solidFill>
            <a:schemeClr val="accent1"/>
          </a:solidFill>
          <a:ln w="12700">
            <a:solidFill>
              <a:schemeClr val="accent1"/>
            </a:solidFill>
            <a:prstDash val="solid"/>
          </a:ln>
        </p:spPr>
      </p:sp>
      <p:pic>
        <p:nvPicPr>
          <p:cNvPr id="13" name="Carbon is spent twice" descr="Carbon is spent twice">    </p:cNvPr>
          <p:cNvPicPr>
            <a:picLocks noChangeAspect="1"/>
          </p:cNvPicPr>
          <p:nvPr/>
        </p:nvPicPr>
        <p:blipFill>
          <a:blip r:embed="rId3"/>
          <a:stretch>
            <a:fillRect/>
          </a:stretch>
        </p:blipFill>
        <p:spPr>
          <a:xfrm>
            <a:off x="974750" y="5043830"/>
            <a:ext cx="336499" cy="336499"/>
          </a:xfrm>
          <a:prstGeom prst="rect">
            <a:avLst/>
          </a:prstGeom>
        </p:spPr>
      </p:pic>
      <p:sp>
        <p:nvSpPr>
          <p:cNvPr id="14" name="Carbon is spent twice"/>
          <p:cNvSpPr txBox="1"/>
          <p:nvPr/>
        </p:nvSpPr>
        <p:spPr>
          <a:xfrm>
            <a:off x="1737360" y="4828032"/>
            <a:ext cx="3931920" cy="384048"/>
          </a:xfrm>
          <a:prstGeom prst="rect">
            <a:avLst/>
          </a:prstGeom>
          <a:noFill/>
          <a:ln/>
        </p:spPr>
        <p:txBody>
          <a:bodyPr wrap="square" lIns="0" tIns="0" rIns="0" bIns="0" rtlCol="0" anchor="t"/>
          <a:lstStyle/>
          <a:p>
            <a:pPr indent="0" marL="0">
              <a:buNone/>
            </a:pPr>
            <a:r>
              <a:rPr lang="en-US" sz="1800" b="1" dirty="0">
                <a:solidFill>
                  <a:schemeClr val="tx1"/>
                </a:solidFill>
              </a:rPr>
              <a:t>Carbon is spent twice</a:t>
            </a:r>
            <a:endParaRPr lang="en-US" sz="1800" dirty="0"/>
          </a:p>
        </p:txBody>
      </p:sp>
      <p:sp>
        <p:nvSpPr>
          <p:cNvPr id="15" name="Carbon is spent twice detail"/>
          <p:cNvSpPr txBox="1"/>
          <p:nvPr/>
        </p:nvSpPr>
        <p:spPr>
          <a:xfrm>
            <a:off x="1737360" y="5230368"/>
            <a:ext cx="3931920" cy="685800"/>
          </a:xfrm>
          <a:prstGeom prst="rect">
            <a:avLst/>
          </a:prstGeom>
          <a:noFill/>
          <a:ln/>
        </p:spPr>
        <p:txBody>
          <a:bodyPr wrap="square" lIns="0" tIns="0" rIns="0" bIns="0" rtlCol="0" anchor="t"/>
          <a:lstStyle/>
          <a:p>
            <a:pPr indent="0" marL="0">
              <a:buNone/>
            </a:pPr>
            <a:r>
              <a:rPr lang="en-US" sz="1400" dirty="0">
                <a:solidFill>
                  <a:schemeClr val="tx2"/>
                </a:solidFill>
              </a:rPr>
              <a:t>Once making the original, and again making its replacement.</a:t>
            </a:r>
            <a:endParaRPr lang="en-US" sz="1400" dirty="0"/>
          </a:p>
        </p:txBody>
      </p:sp>
      <p:graphicFrame>
        <p:nvGraphicFramePr>
          <p:cNvPr id="16" name="Rip-out rates chart" descr="Bar chart: share of owners who removed each fitting, kitchen cabinets 60% down to basins and toilets 9%"/>
          <p:cNvGraphicFramePr/>
          <p:nvPr/>
        </p:nvGraphicFramePr>
        <p:xfrm>
          <a:off x="5897880" y="1874520"/>
          <a:ext cx="5486400" cy="4069080"/>
        </p:xfrm>
        <a:graphic xmlns:a="http://schemas.openxmlformats.org/drawingml/2006/main">
          <a:graphicData uri="http://schemas.openxmlformats.org/drawingml/2006/chart">
            <c:chart xmlns:c="http://schemas.openxmlformats.org/drawingml/2006/chart" r:id="rId4"/>
          </a:graphicData>
        </a:graphic>
      </p:graphicFrame>
      <p:sp>
        <p:nvSpPr>
          <p:cNvPr id="17" name="Chart source"/>
          <p:cNvSpPr txBox="1"/>
          <p:nvPr/>
        </p:nvSpPr>
        <p:spPr>
          <a:xfrm>
            <a:off x="5897880" y="5989320"/>
            <a:ext cx="5486400" cy="365760"/>
          </a:xfrm>
          <a:prstGeom prst="rect">
            <a:avLst/>
          </a:prstGeom>
          <a:noFill/>
          <a:ln/>
        </p:spPr>
        <p:txBody>
          <a:bodyPr wrap="square" lIns="0" tIns="0" rIns="0" bIns="0" rtlCol="0" anchor="t"/>
          <a:lstStyle/>
          <a:p>
            <a:pPr indent="0" marL="0">
              <a:buNone/>
            </a:pPr>
            <a:r>
              <a:rPr lang="en-US" sz="1100" dirty="0">
                <a:solidFill>
                  <a:schemeClr val="tx2"/>
                </a:solidFill>
              </a:rPr>
              <a:t>Double-storey terrace, simulated data for the demo. A pilot would use SDP's renovation applications.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2. Target User</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Three groups lose today, and the same loop helps all three</a:t>
            </a:r>
            <a:endParaRPr lang="en-US" sz="1800" dirty="0"/>
          </a:p>
        </p:txBody>
      </p:sp>
      <p:sp>
        <p:nvSpPr>
          <p:cNvPr id="4" name="Buyers moving in card"/>
          <p:cNvSpPr/>
          <p:nvPr/>
        </p:nvSpPr>
        <p:spPr>
          <a:xfrm>
            <a:off x="777240" y="1965960"/>
            <a:ext cx="3361944" cy="4343400"/>
          </a:xfrm>
          <a:prstGeom prst="roundRect">
            <a:avLst>
              <a:gd name="adj" fmla="val 3264"/>
            </a:avLst>
          </a:prstGeom>
          <a:solidFill>
            <a:schemeClr val="bg2"/>
          </a:solidFill>
          <a:ln w="12700">
            <a:solidFill>
              <a:schemeClr val="bg2"/>
            </a:solidFill>
            <a:prstDash val="solid"/>
          </a:ln>
        </p:spPr>
      </p:sp>
      <p:sp>
        <p:nvSpPr>
          <p:cNvPr id="5" name="Buyers moving in circle"/>
          <p:cNvSpPr/>
          <p:nvPr/>
        </p:nvSpPr>
        <p:spPr>
          <a:xfrm>
            <a:off x="1051560" y="2240280"/>
            <a:ext cx="685800" cy="685800"/>
          </a:xfrm>
          <a:prstGeom prst="ellipse">
            <a:avLst/>
          </a:prstGeom>
          <a:solidFill>
            <a:schemeClr val="accent1"/>
          </a:solidFill>
          <a:ln w="12700">
            <a:solidFill>
              <a:schemeClr val="accent1"/>
            </a:solidFill>
            <a:prstDash val="solid"/>
          </a:ln>
        </p:spPr>
      </p:sp>
      <p:pic>
        <p:nvPicPr>
          <p:cNvPr id="6" name="Buyers moving in" descr="Buyers moving in">    </p:cNvPr>
          <p:cNvPicPr>
            <a:picLocks noChangeAspect="1"/>
          </p:cNvPicPr>
          <p:nvPr/>
        </p:nvPicPr>
        <p:blipFill>
          <a:blip r:embed="rId1"/>
          <a:stretch>
            <a:fillRect/>
          </a:stretch>
        </p:blipFill>
        <p:spPr>
          <a:xfrm>
            <a:off x="1236726" y="2425446"/>
            <a:ext cx="315468" cy="315468"/>
          </a:xfrm>
          <a:prstGeom prst="rect">
            <a:avLst/>
          </a:prstGeom>
        </p:spPr>
      </p:pic>
      <p:sp>
        <p:nvSpPr>
          <p:cNvPr id="7" name="Buyers moving in"/>
          <p:cNvSpPr txBox="1"/>
          <p:nvPr/>
        </p:nvSpPr>
        <p:spPr>
          <a:xfrm>
            <a:off x="1874520" y="2240280"/>
            <a:ext cx="2036064" cy="685800"/>
          </a:xfrm>
          <a:prstGeom prst="rect">
            <a:avLst/>
          </a:prstGeom>
          <a:noFill/>
          <a:ln/>
        </p:spPr>
        <p:txBody>
          <a:bodyPr wrap="square" lIns="0" tIns="0" rIns="0" bIns="0" rtlCol="0" anchor="ctr"/>
          <a:lstStyle/>
          <a:p>
            <a:pPr indent="0" marL="0">
              <a:buNone/>
            </a:pPr>
            <a:r>
              <a:rPr lang="en-US" sz="1800" b="1" dirty="0">
                <a:solidFill>
                  <a:schemeClr val="tx1"/>
                </a:solidFill>
              </a:rPr>
              <a:t>Buyers moving in</a:t>
            </a:r>
            <a:endParaRPr lang="en-US" sz="1800" dirty="0"/>
          </a:p>
        </p:txBody>
      </p:sp>
      <p:sp>
        <p:nvSpPr>
          <p:cNvPr id="8" name="Buyers moving in who"/>
          <p:cNvSpPr txBox="1"/>
          <p:nvPr/>
        </p:nvSpPr>
        <p:spPr>
          <a:xfrm>
            <a:off x="1051560" y="3108960"/>
            <a:ext cx="2813304" cy="457200"/>
          </a:xfrm>
          <a:prstGeom prst="rect">
            <a:avLst/>
          </a:prstGeom>
          <a:noFill/>
          <a:ln/>
        </p:spPr>
        <p:txBody>
          <a:bodyPr wrap="square" lIns="0" tIns="0" rIns="0" bIns="0" rtlCol="0" anchor="t"/>
          <a:lstStyle/>
          <a:p>
            <a:pPr indent="0" marL="0">
              <a:buNone/>
            </a:pPr>
            <a:r>
              <a:rPr lang="en-US" sz="1300" i="1" dirty="0">
                <a:solidFill>
                  <a:schemeClr val="tx2"/>
                </a:solidFill>
              </a:rPr>
              <a:t>New owners of SDP homes, before handover</a:t>
            </a:r>
            <a:endParaRPr lang="en-US" sz="1300" dirty="0"/>
          </a:p>
        </p:txBody>
      </p:sp>
      <p:sp>
        <p:nvSpPr>
          <p:cNvPr id="9" name="Text 6"/>
          <p:cNvSpPr txBox="1"/>
          <p:nvPr/>
        </p:nvSpPr>
        <p:spPr>
          <a:xfrm>
            <a:off x="1051560" y="3703320"/>
            <a:ext cx="2813304"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THEIR CHALLENGE</a:t>
            </a:r>
            <a:endParaRPr lang="en-US" sz="1100" dirty="0"/>
          </a:p>
        </p:txBody>
      </p:sp>
      <p:sp>
        <p:nvSpPr>
          <p:cNvPr id="10" name="Buyers moving in challenge"/>
          <p:cNvSpPr txBox="1"/>
          <p:nvPr/>
        </p:nvSpPr>
        <p:spPr>
          <a:xfrm>
            <a:off x="1051560" y="3977640"/>
            <a:ext cx="2813304" cy="914400"/>
          </a:xfrm>
          <a:prstGeom prst="rect">
            <a:avLst/>
          </a:prstGeom>
          <a:noFill/>
          <a:ln/>
        </p:spPr>
        <p:txBody>
          <a:bodyPr wrap="square" lIns="0" tIns="0" rIns="0" bIns="0" rtlCol="0" anchor="t"/>
          <a:lstStyle/>
          <a:p>
            <a:pPr indent="0" marL="0">
              <a:buNone/>
            </a:pPr>
            <a:r>
              <a:rPr lang="en-US" sz="1400" dirty="0">
                <a:solidFill>
                  <a:schemeClr val="tx1"/>
                </a:solidFill>
              </a:rPr>
              <a:t>They pay for fittings they plan to rip out, then pay a contractor to remove them.</a:t>
            </a:r>
            <a:endParaRPr lang="en-US" sz="1400" dirty="0"/>
          </a:p>
        </p:txBody>
      </p:sp>
      <p:sp>
        <p:nvSpPr>
          <p:cNvPr id="11" name="Buyers moving in gain card"/>
          <p:cNvSpPr/>
          <p:nvPr/>
        </p:nvSpPr>
        <p:spPr>
          <a:xfrm>
            <a:off x="960120" y="4983480"/>
            <a:ext cx="2996184" cy="1143000"/>
          </a:xfrm>
          <a:prstGeom prst="roundRect">
            <a:avLst>
              <a:gd name="adj" fmla="val 9600"/>
            </a:avLst>
          </a:prstGeom>
          <a:solidFill>
            <a:schemeClr val="accent6"/>
          </a:solidFill>
          <a:ln w="12700">
            <a:solidFill>
              <a:schemeClr val="accent6"/>
            </a:solidFill>
            <a:prstDash val="solid"/>
          </a:ln>
        </p:spPr>
      </p:sp>
      <p:sp>
        <p:nvSpPr>
          <p:cNvPr id="12" name="Text 9"/>
          <p:cNvSpPr txBox="1"/>
          <p:nvPr/>
        </p:nvSpPr>
        <p:spPr>
          <a:xfrm>
            <a:off x="1143000" y="5093208"/>
            <a:ext cx="2630424"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THEY GET</a:t>
            </a:r>
            <a:endParaRPr lang="en-US" sz="1100" dirty="0"/>
          </a:p>
        </p:txBody>
      </p:sp>
      <p:sp>
        <p:nvSpPr>
          <p:cNvPr id="13" name="Buyers moving in gain"/>
          <p:cNvSpPr txBox="1"/>
          <p:nvPr/>
        </p:nvSpPr>
        <p:spPr>
          <a:xfrm>
            <a:off x="1143000" y="5367528"/>
            <a:ext cx="2630424" cy="685800"/>
          </a:xfrm>
          <a:prstGeom prst="rect">
            <a:avLst/>
          </a:prstGeom>
          <a:noFill/>
          <a:ln/>
        </p:spPr>
        <p:txBody>
          <a:bodyPr wrap="square" lIns="0" tIns="0" rIns="0" bIns="0" rtlCol="0" anchor="t"/>
          <a:lstStyle/>
          <a:p>
            <a:pPr indent="0" marL="0">
              <a:buNone/>
            </a:pPr>
            <a:r>
              <a:rPr lang="en-US" sz="1400" b="1" dirty="0">
                <a:solidFill>
                  <a:schemeClr val="tx1"/>
                </a:solidFill>
              </a:rPr>
              <a:t>Opt out for a credit, or upgrade, before anything is installed.</a:t>
            </a:r>
            <a:endParaRPr lang="en-US" sz="1400" dirty="0"/>
          </a:p>
        </p:txBody>
      </p:sp>
      <p:sp>
        <p:nvSpPr>
          <p:cNvPr id="14" name="Homeowners renovating card"/>
          <p:cNvSpPr/>
          <p:nvPr/>
        </p:nvSpPr>
        <p:spPr>
          <a:xfrm>
            <a:off x="4413504" y="1965960"/>
            <a:ext cx="3361944" cy="4343400"/>
          </a:xfrm>
          <a:prstGeom prst="roundRect">
            <a:avLst>
              <a:gd name="adj" fmla="val 3264"/>
            </a:avLst>
          </a:prstGeom>
          <a:solidFill>
            <a:schemeClr val="bg2"/>
          </a:solidFill>
          <a:ln w="12700">
            <a:solidFill>
              <a:schemeClr val="bg2"/>
            </a:solidFill>
            <a:prstDash val="solid"/>
          </a:ln>
        </p:spPr>
      </p:sp>
      <p:sp>
        <p:nvSpPr>
          <p:cNvPr id="15" name="Homeowners renovating circle"/>
          <p:cNvSpPr/>
          <p:nvPr/>
        </p:nvSpPr>
        <p:spPr>
          <a:xfrm>
            <a:off x="4687824" y="2240280"/>
            <a:ext cx="685800" cy="685800"/>
          </a:xfrm>
          <a:prstGeom prst="ellipse">
            <a:avLst/>
          </a:prstGeom>
          <a:solidFill>
            <a:schemeClr val="accent1"/>
          </a:solidFill>
          <a:ln w="12700">
            <a:solidFill>
              <a:schemeClr val="accent1"/>
            </a:solidFill>
            <a:prstDash val="solid"/>
          </a:ln>
        </p:spPr>
      </p:sp>
      <p:pic>
        <p:nvPicPr>
          <p:cNvPr id="16" name="Homeowners renovating" descr="Homeowners renovating">    </p:cNvPr>
          <p:cNvPicPr>
            <a:picLocks noChangeAspect="1"/>
          </p:cNvPicPr>
          <p:nvPr/>
        </p:nvPicPr>
        <p:blipFill>
          <a:blip r:embed="rId2"/>
          <a:stretch>
            <a:fillRect/>
          </a:stretch>
        </p:blipFill>
        <p:spPr>
          <a:xfrm>
            <a:off x="4872990" y="2425446"/>
            <a:ext cx="315468" cy="315468"/>
          </a:xfrm>
          <a:prstGeom prst="rect">
            <a:avLst/>
          </a:prstGeom>
        </p:spPr>
      </p:pic>
      <p:sp>
        <p:nvSpPr>
          <p:cNvPr id="17" name="Homeowners renovating"/>
          <p:cNvSpPr txBox="1"/>
          <p:nvPr/>
        </p:nvSpPr>
        <p:spPr>
          <a:xfrm>
            <a:off x="5510784" y="2240280"/>
            <a:ext cx="2036064" cy="685800"/>
          </a:xfrm>
          <a:prstGeom prst="rect">
            <a:avLst/>
          </a:prstGeom>
          <a:noFill/>
          <a:ln/>
        </p:spPr>
        <p:txBody>
          <a:bodyPr wrap="square" lIns="0" tIns="0" rIns="0" bIns="0" rtlCol="0" anchor="ctr"/>
          <a:lstStyle/>
          <a:p>
            <a:pPr indent="0" marL="0">
              <a:buNone/>
            </a:pPr>
            <a:r>
              <a:rPr lang="en-US" sz="1800" b="1" dirty="0">
                <a:solidFill>
                  <a:schemeClr val="tx1"/>
                </a:solidFill>
              </a:rPr>
              <a:t>Homeowners renovating</a:t>
            </a:r>
            <a:endParaRPr lang="en-US" sz="1800" dirty="0"/>
          </a:p>
        </p:txBody>
      </p:sp>
      <p:sp>
        <p:nvSpPr>
          <p:cNvPr id="18" name="Homeowners renovating who"/>
          <p:cNvSpPr txBox="1"/>
          <p:nvPr/>
        </p:nvSpPr>
        <p:spPr>
          <a:xfrm>
            <a:off x="4687824" y="3108960"/>
            <a:ext cx="2813304" cy="457200"/>
          </a:xfrm>
          <a:prstGeom prst="rect">
            <a:avLst/>
          </a:prstGeom>
          <a:noFill/>
          <a:ln/>
        </p:spPr>
        <p:txBody>
          <a:bodyPr wrap="square" lIns="0" tIns="0" rIns="0" bIns="0" rtlCol="0" anchor="t"/>
          <a:lstStyle/>
          <a:p>
            <a:pPr indent="0" marL="0">
              <a:buNone/>
            </a:pPr>
            <a:r>
              <a:rPr lang="en-US" sz="1300" i="1" dirty="0">
                <a:solidFill>
                  <a:schemeClr val="tx2"/>
                </a:solidFill>
              </a:rPr>
              <a:t>Owners in the same township and house design</a:t>
            </a:r>
            <a:endParaRPr lang="en-US" sz="1300" dirty="0"/>
          </a:p>
        </p:txBody>
      </p:sp>
      <p:sp>
        <p:nvSpPr>
          <p:cNvPr id="19" name="Text 15"/>
          <p:cNvSpPr txBox="1"/>
          <p:nvPr/>
        </p:nvSpPr>
        <p:spPr>
          <a:xfrm>
            <a:off x="4687824" y="3703320"/>
            <a:ext cx="2813304"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THEIR CHALLENGE</a:t>
            </a:r>
            <a:endParaRPr lang="en-US" sz="1100" dirty="0"/>
          </a:p>
        </p:txBody>
      </p:sp>
      <p:sp>
        <p:nvSpPr>
          <p:cNvPr id="20" name="Homeowners renovating challenge"/>
          <p:cNvSpPr txBox="1"/>
          <p:nvPr/>
        </p:nvSpPr>
        <p:spPr>
          <a:xfrm>
            <a:off x="4687824" y="3977640"/>
            <a:ext cx="2813304" cy="914400"/>
          </a:xfrm>
          <a:prstGeom prst="rect">
            <a:avLst/>
          </a:prstGeom>
          <a:noFill/>
          <a:ln/>
        </p:spPr>
        <p:txBody>
          <a:bodyPr wrap="square" lIns="0" tIns="0" rIns="0" bIns="0" rtlCol="0" anchor="t"/>
          <a:lstStyle/>
          <a:p>
            <a:pPr indent="0" marL="0">
              <a:buNone/>
            </a:pPr>
            <a:r>
              <a:rPr lang="en-US" sz="1400" dirty="0">
                <a:solidFill>
                  <a:schemeClr val="tx1"/>
                </a:solidFill>
              </a:rPr>
              <a:t>Usable fittings they remove have nowhere to go; neighbours buy the same item new.</a:t>
            </a:r>
            <a:endParaRPr lang="en-US" sz="1400" dirty="0"/>
          </a:p>
        </p:txBody>
      </p:sp>
      <p:sp>
        <p:nvSpPr>
          <p:cNvPr id="21" name="Homeowners renovating gain card"/>
          <p:cNvSpPr/>
          <p:nvPr/>
        </p:nvSpPr>
        <p:spPr>
          <a:xfrm>
            <a:off x="4596384" y="4983480"/>
            <a:ext cx="2996184" cy="1143000"/>
          </a:xfrm>
          <a:prstGeom prst="roundRect">
            <a:avLst>
              <a:gd name="adj" fmla="val 9600"/>
            </a:avLst>
          </a:prstGeom>
          <a:solidFill>
            <a:schemeClr val="accent6"/>
          </a:solidFill>
          <a:ln w="12700">
            <a:solidFill>
              <a:schemeClr val="accent6"/>
            </a:solidFill>
            <a:prstDash val="solid"/>
          </a:ln>
        </p:spPr>
      </p:sp>
      <p:sp>
        <p:nvSpPr>
          <p:cNvPr id="22" name="Text 18"/>
          <p:cNvSpPr txBox="1"/>
          <p:nvPr/>
        </p:nvSpPr>
        <p:spPr>
          <a:xfrm>
            <a:off x="4779264" y="5093208"/>
            <a:ext cx="2630424"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THEY GET</a:t>
            </a:r>
            <a:endParaRPr lang="en-US" sz="1100" dirty="0"/>
          </a:p>
        </p:txBody>
      </p:sp>
      <p:sp>
        <p:nvSpPr>
          <p:cNvPr id="23" name="Homeowners renovating gain"/>
          <p:cNvSpPr txBox="1"/>
          <p:nvPr/>
        </p:nvSpPr>
        <p:spPr>
          <a:xfrm>
            <a:off x="4779264" y="5367528"/>
            <a:ext cx="2630424" cy="685800"/>
          </a:xfrm>
          <a:prstGeom prst="rect">
            <a:avLst/>
          </a:prstGeom>
          <a:noFill/>
          <a:ln/>
        </p:spPr>
        <p:txBody>
          <a:bodyPr wrap="square" lIns="0" tIns="0" rIns="0" bIns="0" rtlCol="0" anchor="t"/>
          <a:lstStyle/>
          <a:p>
            <a:pPr indent="0" marL="0">
              <a:buNone/>
            </a:pPr>
            <a:r>
              <a:rPr lang="en-US" sz="1400" b="1" dirty="0">
                <a:solidFill>
                  <a:schemeClr val="tx1"/>
                </a:solidFill>
              </a:rPr>
              <a:t>Give it to the nearest neighbour, where it fits exactly.</a:t>
            </a:r>
            <a:endParaRPr lang="en-US" sz="1400" dirty="0"/>
          </a:p>
        </p:txBody>
      </p:sp>
      <p:sp>
        <p:nvSpPr>
          <p:cNvPr id="24" name="Sime Darby Property card"/>
          <p:cNvSpPr/>
          <p:nvPr/>
        </p:nvSpPr>
        <p:spPr>
          <a:xfrm>
            <a:off x="8049768" y="1965960"/>
            <a:ext cx="3361944" cy="4343400"/>
          </a:xfrm>
          <a:prstGeom prst="roundRect">
            <a:avLst>
              <a:gd name="adj" fmla="val 3264"/>
            </a:avLst>
          </a:prstGeom>
          <a:solidFill>
            <a:schemeClr val="bg2"/>
          </a:solidFill>
          <a:ln w="12700">
            <a:solidFill>
              <a:schemeClr val="bg2"/>
            </a:solidFill>
            <a:prstDash val="solid"/>
          </a:ln>
        </p:spPr>
      </p:sp>
      <p:sp>
        <p:nvSpPr>
          <p:cNvPr id="25" name="Sime Darby Property circle"/>
          <p:cNvSpPr/>
          <p:nvPr/>
        </p:nvSpPr>
        <p:spPr>
          <a:xfrm>
            <a:off x="8324088" y="2240280"/>
            <a:ext cx="685800" cy="685800"/>
          </a:xfrm>
          <a:prstGeom prst="ellipse">
            <a:avLst/>
          </a:prstGeom>
          <a:solidFill>
            <a:schemeClr val="accent1"/>
          </a:solidFill>
          <a:ln w="12700">
            <a:solidFill>
              <a:schemeClr val="accent1"/>
            </a:solidFill>
            <a:prstDash val="solid"/>
          </a:ln>
        </p:spPr>
      </p:sp>
      <p:pic>
        <p:nvPicPr>
          <p:cNvPr id="26" name="Sime Darby Property" descr="Sime Darby Property">    </p:cNvPr>
          <p:cNvPicPr>
            <a:picLocks noChangeAspect="1"/>
          </p:cNvPicPr>
          <p:nvPr/>
        </p:nvPicPr>
        <p:blipFill>
          <a:blip r:embed="rId3"/>
          <a:stretch>
            <a:fillRect/>
          </a:stretch>
        </p:blipFill>
        <p:spPr>
          <a:xfrm>
            <a:off x="8509254" y="2425446"/>
            <a:ext cx="315468" cy="315468"/>
          </a:xfrm>
          <a:prstGeom prst="rect">
            <a:avLst/>
          </a:prstGeom>
        </p:spPr>
      </p:pic>
      <p:sp>
        <p:nvSpPr>
          <p:cNvPr id="27" name="Sime Darby Property"/>
          <p:cNvSpPr txBox="1"/>
          <p:nvPr/>
        </p:nvSpPr>
        <p:spPr>
          <a:xfrm>
            <a:off x="9147048" y="2240280"/>
            <a:ext cx="2036064" cy="685800"/>
          </a:xfrm>
          <a:prstGeom prst="rect">
            <a:avLst/>
          </a:prstGeom>
          <a:noFill/>
          <a:ln/>
        </p:spPr>
        <p:txBody>
          <a:bodyPr wrap="square" lIns="0" tIns="0" rIns="0" bIns="0" rtlCol="0" anchor="ctr"/>
          <a:lstStyle/>
          <a:p>
            <a:pPr indent="0" marL="0">
              <a:buNone/>
            </a:pPr>
            <a:r>
              <a:rPr lang="en-US" sz="1800" b="1" dirty="0">
                <a:solidFill>
                  <a:schemeClr val="tx1"/>
                </a:solidFill>
              </a:rPr>
              <a:t>Sime Darby Property</a:t>
            </a:r>
            <a:endParaRPr lang="en-US" sz="1800" dirty="0"/>
          </a:p>
        </p:txBody>
      </p:sp>
      <p:sp>
        <p:nvSpPr>
          <p:cNvPr id="28" name="Sime Darby Property who"/>
          <p:cNvSpPr txBox="1"/>
          <p:nvPr/>
        </p:nvSpPr>
        <p:spPr>
          <a:xfrm>
            <a:off x="8324088" y="3108960"/>
            <a:ext cx="2813304" cy="457200"/>
          </a:xfrm>
          <a:prstGeom prst="rect">
            <a:avLst/>
          </a:prstGeom>
          <a:noFill/>
          <a:ln/>
        </p:spPr>
        <p:txBody>
          <a:bodyPr wrap="square" lIns="0" tIns="0" rIns="0" bIns="0" rtlCol="0" anchor="t"/>
          <a:lstStyle/>
          <a:p>
            <a:pPr indent="0" marL="0">
              <a:buNone/>
            </a:pPr>
            <a:r>
              <a:rPr lang="en-US" sz="1300" i="1" dirty="0">
                <a:solidFill>
                  <a:schemeClr val="tx2"/>
                </a:solidFill>
              </a:rPr>
              <a:t>Sales, product design and sustainability teams</a:t>
            </a:r>
            <a:endParaRPr lang="en-US" sz="1300" dirty="0"/>
          </a:p>
        </p:txBody>
      </p:sp>
      <p:sp>
        <p:nvSpPr>
          <p:cNvPr id="29" name="Text 24"/>
          <p:cNvSpPr txBox="1"/>
          <p:nvPr/>
        </p:nvSpPr>
        <p:spPr>
          <a:xfrm>
            <a:off x="8324088" y="3703320"/>
            <a:ext cx="2813304"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THEIR CHALLENGE</a:t>
            </a:r>
            <a:endParaRPr lang="en-US" sz="1100" dirty="0"/>
          </a:p>
        </p:txBody>
      </p:sp>
      <p:sp>
        <p:nvSpPr>
          <p:cNvPr id="30" name="Sime Darby Property challenge"/>
          <p:cNvSpPr txBox="1"/>
          <p:nvPr/>
        </p:nvSpPr>
        <p:spPr>
          <a:xfrm>
            <a:off x="8324088" y="3977640"/>
            <a:ext cx="2813304" cy="914400"/>
          </a:xfrm>
          <a:prstGeom prst="rect">
            <a:avLst/>
          </a:prstGeom>
          <a:noFill/>
          <a:ln/>
        </p:spPr>
        <p:txBody>
          <a:bodyPr wrap="square" lIns="0" tIns="0" rIns="0" bIns="0" rtlCol="0" anchor="t"/>
          <a:lstStyle/>
          <a:p>
            <a:pPr indent="0" marL="0">
              <a:buNone/>
            </a:pPr>
            <a:r>
              <a:rPr lang="en-US" sz="1400" dirty="0">
                <a:solidFill>
                  <a:schemeClr val="tx1"/>
                </a:solidFill>
              </a:rPr>
              <a:t>It builds fittings buyers don't want, with no data on what owners remove.</a:t>
            </a:r>
            <a:endParaRPr lang="en-US" sz="1400" dirty="0"/>
          </a:p>
        </p:txBody>
      </p:sp>
      <p:sp>
        <p:nvSpPr>
          <p:cNvPr id="31" name="Sime Darby Property gain card"/>
          <p:cNvSpPr/>
          <p:nvPr/>
        </p:nvSpPr>
        <p:spPr>
          <a:xfrm>
            <a:off x="8232648" y="4983480"/>
            <a:ext cx="2996184" cy="1143000"/>
          </a:xfrm>
          <a:prstGeom prst="roundRect">
            <a:avLst>
              <a:gd name="adj" fmla="val 9600"/>
            </a:avLst>
          </a:prstGeom>
          <a:solidFill>
            <a:schemeClr val="accent6"/>
          </a:solidFill>
          <a:ln w="12700">
            <a:solidFill>
              <a:schemeClr val="accent6"/>
            </a:solidFill>
            <a:prstDash val="solid"/>
          </a:ln>
        </p:spPr>
      </p:sp>
      <p:sp>
        <p:nvSpPr>
          <p:cNvPr id="32" name="Text 27"/>
          <p:cNvSpPr txBox="1"/>
          <p:nvPr/>
        </p:nvSpPr>
        <p:spPr>
          <a:xfrm>
            <a:off x="8415528" y="5093208"/>
            <a:ext cx="2630424"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THEY GET</a:t>
            </a:r>
            <a:endParaRPr lang="en-US" sz="1100" dirty="0"/>
          </a:p>
        </p:txBody>
      </p:sp>
      <p:sp>
        <p:nvSpPr>
          <p:cNvPr id="33" name="Sime Darby Property gain"/>
          <p:cNvSpPr txBox="1"/>
          <p:nvPr/>
        </p:nvSpPr>
        <p:spPr>
          <a:xfrm>
            <a:off x="8415528" y="5367528"/>
            <a:ext cx="2630424" cy="685800"/>
          </a:xfrm>
          <a:prstGeom prst="rect">
            <a:avLst/>
          </a:prstGeom>
          <a:noFill/>
          <a:ln/>
        </p:spPr>
        <p:txBody>
          <a:bodyPr wrap="square" lIns="0" tIns="0" rIns="0" bIns="0" rtlCol="0" anchor="t"/>
          <a:lstStyle/>
          <a:p>
            <a:pPr indent="0" marL="0">
              <a:buNone/>
            </a:pPr>
            <a:r>
              <a:rPr lang="en-US" sz="1400" b="1" dirty="0">
                <a:solidFill>
                  <a:schemeClr val="tx1"/>
                </a:solidFill>
              </a:rPr>
              <a:t>Lower build cost, upgrade sales, and data on what to stop installing.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3. Our Solution</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One loop, four functions: stop the waste before it is built</a:t>
            </a:r>
            <a:endParaRPr lang="en-US" sz="1800" dirty="0"/>
          </a:p>
        </p:txBody>
      </p:sp>
      <p:sp>
        <p:nvSpPr>
          <p:cNvPr id="4" name="Track card"/>
          <p:cNvSpPr/>
          <p:nvPr/>
        </p:nvSpPr>
        <p:spPr>
          <a:xfrm>
            <a:off x="777240" y="2011680"/>
            <a:ext cx="2350008" cy="2971800"/>
          </a:xfrm>
          <a:prstGeom prst="roundRect">
            <a:avLst>
              <a:gd name="adj" fmla="val 4669"/>
            </a:avLst>
          </a:prstGeom>
          <a:solidFill>
            <a:schemeClr val="bg2"/>
          </a:solidFill>
          <a:ln w="12700">
            <a:solidFill>
              <a:schemeClr val="bg2"/>
            </a:solidFill>
            <a:prstDash val="solid"/>
          </a:ln>
        </p:spPr>
      </p:sp>
      <p:sp>
        <p:nvSpPr>
          <p:cNvPr id="5" name="Step 1 circle"/>
          <p:cNvSpPr/>
          <p:nvPr/>
        </p:nvSpPr>
        <p:spPr>
          <a:xfrm>
            <a:off x="1005840" y="2240280"/>
            <a:ext cx="502920" cy="502920"/>
          </a:xfrm>
          <a:prstGeom prst="ellipse">
            <a:avLst/>
          </a:prstGeom>
          <a:solidFill>
            <a:schemeClr val="accent1"/>
          </a:solidFill>
          <a:ln w="12700">
            <a:solidFill>
              <a:schemeClr val="accent1"/>
            </a:solidFill>
            <a:prstDash val="solid"/>
          </a:ln>
        </p:spPr>
      </p:sp>
      <p:sp>
        <p:nvSpPr>
          <p:cNvPr id="6" name="Step 1 number"/>
          <p:cNvSpPr txBox="1"/>
          <p:nvPr/>
        </p:nvSpPr>
        <p:spPr>
          <a:xfrm>
            <a:off x="1005840" y="22402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rack"/>
          <p:cNvSpPr txBox="1"/>
          <p:nvPr/>
        </p:nvSpPr>
        <p:spPr>
          <a:xfrm>
            <a:off x="1005840" y="2880360"/>
            <a:ext cx="1892808" cy="502920"/>
          </a:xfrm>
          <a:prstGeom prst="rect">
            <a:avLst/>
          </a:prstGeom>
          <a:noFill/>
          <a:ln/>
        </p:spPr>
        <p:txBody>
          <a:bodyPr wrap="square" lIns="0" tIns="0" rIns="0" bIns="0" rtlCol="0" anchor="t"/>
          <a:lstStyle/>
          <a:p>
            <a:pPr indent="0" marL="0">
              <a:buNone/>
            </a:pPr>
            <a:r>
              <a:rPr lang="en-US" sz="2400" b="1" dirty="0">
                <a:solidFill>
                  <a:schemeClr val="tx1"/>
                </a:solidFill>
              </a:rPr>
              <a:t>Track</a:t>
            </a:r>
            <a:endParaRPr lang="en-US" sz="2400" dirty="0"/>
          </a:p>
        </p:txBody>
      </p:sp>
      <p:sp>
        <p:nvSpPr>
          <p:cNvPr id="8" name="Track question"/>
          <p:cNvSpPr txBox="1"/>
          <p:nvPr/>
        </p:nvSpPr>
        <p:spPr>
          <a:xfrm>
            <a:off x="1005840" y="3383280"/>
            <a:ext cx="1892808" cy="548640"/>
          </a:xfrm>
          <a:prstGeom prst="rect">
            <a:avLst/>
          </a:prstGeom>
          <a:noFill/>
          <a:ln/>
        </p:spPr>
        <p:txBody>
          <a:bodyPr wrap="square" lIns="0" tIns="0" rIns="0" bIns="0" rtlCol="0" anchor="t"/>
          <a:lstStyle/>
          <a:p>
            <a:pPr indent="0" marL="0">
              <a:buNone/>
            </a:pPr>
            <a:r>
              <a:rPr lang="en-US" sz="1400" b="1" dirty="0">
                <a:solidFill>
                  <a:schemeClr val="tx1"/>
                </a:solidFill>
              </a:rPr>
              <a:t>What did owners remove?</a:t>
            </a:r>
            <a:endParaRPr lang="en-US" sz="1400" dirty="0"/>
          </a:p>
        </p:txBody>
      </p:sp>
      <p:sp>
        <p:nvSpPr>
          <p:cNvPr id="9" name="Track detail"/>
          <p:cNvSpPr txBox="1"/>
          <p:nvPr/>
        </p:nvSpPr>
        <p:spPr>
          <a:xfrm>
            <a:off x="1005840" y="3931920"/>
            <a:ext cx="1892808" cy="960120"/>
          </a:xfrm>
          <a:prstGeom prst="rect">
            <a:avLst/>
          </a:prstGeom>
          <a:noFill/>
          <a:ln/>
        </p:spPr>
        <p:txBody>
          <a:bodyPr wrap="square" lIns="0" tIns="0" rIns="0" bIns="0" rtlCol="0" anchor="t"/>
          <a:lstStyle/>
          <a:p>
            <a:pPr indent="0" marL="0">
              <a:buNone/>
            </a:pPr>
            <a:r>
              <a:rPr lang="en-US" sz="1300" dirty="0">
                <a:solidFill>
                  <a:schemeClr val="tx2"/>
                </a:solidFill>
              </a:rPr>
              <a:t>AI sorts owners' messy notes into fittings; the app counts them into a rip-out index.</a:t>
            </a:r>
            <a:endParaRPr lang="en-US" sz="1300" dirty="0"/>
          </a:p>
        </p:txBody>
      </p:sp>
      <p:sp>
        <p:nvSpPr>
          <p:cNvPr id="10" name="Arrow 1"/>
          <p:cNvSpPr/>
          <p:nvPr/>
        </p:nvSpPr>
        <p:spPr>
          <a:xfrm>
            <a:off x="3191256" y="3497580"/>
            <a:ext cx="283464" cy="0"/>
          </a:xfrm>
          <a:prstGeom prst="line">
            <a:avLst/>
          </a:prstGeom>
          <a:noFill/>
          <a:ln w="25400">
            <a:solidFill>
              <a:srgbClr val="8C8C8C"/>
            </a:solidFill>
            <a:prstDash val="solid"/>
            <a:tailEnd type="triangle"/>
          </a:ln>
        </p:spPr>
      </p:sp>
      <p:sp>
        <p:nvSpPr>
          <p:cNvPr id="11" name="Advise card"/>
          <p:cNvSpPr/>
          <p:nvPr/>
        </p:nvSpPr>
        <p:spPr>
          <a:xfrm>
            <a:off x="3538728" y="2011680"/>
            <a:ext cx="2350008" cy="2971800"/>
          </a:xfrm>
          <a:prstGeom prst="roundRect">
            <a:avLst>
              <a:gd name="adj" fmla="val 4669"/>
            </a:avLst>
          </a:prstGeom>
          <a:solidFill>
            <a:schemeClr val="accent1"/>
          </a:solidFill>
          <a:ln w="12700">
            <a:solidFill>
              <a:schemeClr val="accent1"/>
            </a:solidFill>
            <a:prstDash val="solid"/>
          </a:ln>
        </p:spPr>
      </p:sp>
      <p:sp>
        <p:nvSpPr>
          <p:cNvPr id="12" name="Step 2 circle"/>
          <p:cNvSpPr/>
          <p:nvPr/>
        </p:nvSpPr>
        <p:spPr>
          <a:xfrm>
            <a:off x="3767328" y="2240280"/>
            <a:ext cx="502920" cy="502920"/>
          </a:xfrm>
          <a:prstGeom prst="ellipse">
            <a:avLst/>
          </a:prstGeom>
          <a:solidFill>
            <a:schemeClr val="bg1"/>
          </a:solidFill>
          <a:ln w="12700">
            <a:solidFill>
              <a:schemeClr val="bg1"/>
            </a:solidFill>
            <a:prstDash val="solid"/>
          </a:ln>
        </p:spPr>
      </p:sp>
      <p:sp>
        <p:nvSpPr>
          <p:cNvPr id="13" name="Step 2 number"/>
          <p:cNvSpPr txBox="1"/>
          <p:nvPr/>
        </p:nvSpPr>
        <p:spPr>
          <a:xfrm>
            <a:off x="3767328" y="22402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3767328" y="224028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5" name="Advise"/>
          <p:cNvSpPr txBox="1"/>
          <p:nvPr/>
        </p:nvSpPr>
        <p:spPr>
          <a:xfrm>
            <a:off x="3767328" y="2880360"/>
            <a:ext cx="1892808" cy="502920"/>
          </a:xfrm>
          <a:prstGeom prst="rect">
            <a:avLst/>
          </a:prstGeom>
          <a:noFill/>
          <a:ln/>
        </p:spPr>
        <p:txBody>
          <a:bodyPr wrap="square" lIns="0" tIns="0" rIns="0" bIns="0" rtlCol="0" anchor="t"/>
          <a:lstStyle/>
          <a:p>
            <a:pPr indent="0" marL="0">
              <a:buNone/>
            </a:pPr>
            <a:r>
              <a:rPr lang="en-US" sz="2400" b="1" dirty="0">
                <a:solidFill>
                  <a:schemeClr val="bg1"/>
                </a:solidFill>
              </a:rPr>
              <a:t>Advise</a:t>
            </a:r>
            <a:endParaRPr lang="en-US" sz="2400" dirty="0"/>
          </a:p>
        </p:txBody>
      </p:sp>
      <p:sp>
        <p:nvSpPr>
          <p:cNvPr id="16" name="Advise question"/>
          <p:cNvSpPr txBox="1"/>
          <p:nvPr/>
        </p:nvSpPr>
        <p:spPr>
          <a:xfrm>
            <a:off x="3767328" y="3383280"/>
            <a:ext cx="1892808" cy="548640"/>
          </a:xfrm>
          <a:prstGeom prst="rect">
            <a:avLst/>
          </a:prstGeom>
          <a:noFill/>
          <a:ln/>
        </p:spPr>
        <p:txBody>
          <a:bodyPr wrap="square" lIns="0" tIns="0" rIns="0" bIns="0" rtlCol="0" anchor="t"/>
          <a:lstStyle/>
          <a:p>
            <a:pPr indent="0" marL="0">
              <a:buNone/>
            </a:pPr>
            <a:r>
              <a:rPr lang="en-US" sz="1400" b="1" dirty="0">
                <a:solidFill>
                  <a:schemeClr val="bg1"/>
                </a:solidFill>
              </a:rPr>
              <a:t>Choose before it is built</a:t>
            </a:r>
            <a:endParaRPr lang="en-US" sz="1400" dirty="0"/>
          </a:p>
        </p:txBody>
      </p:sp>
      <p:sp>
        <p:nvSpPr>
          <p:cNvPr id="17" name="Advise detail"/>
          <p:cNvSpPr txBox="1"/>
          <p:nvPr/>
        </p:nvSpPr>
        <p:spPr>
          <a:xfrm>
            <a:off x="3767328" y="3931920"/>
            <a:ext cx="1892808" cy="960120"/>
          </a:xfrm>
          <a:prstGeom prst="rect">
            <a:avLst/>
          </a:prstGeom>
          <a:noFill/>
          <a:ln/>
        </p:spPr>
        <p:txBody>
          <a:bodyPr wrap="square" lIns="0" tIns="0" rIns="0" bIns="0" rtlCol="0" anchor="t"/>
          <a:lstStyle/>
          <a:p>
            <a:pPr indent="0" marL="0">
              <a:buNone/>
            </a:pPr>
            <a:r>
              <a:rPr lang="en-US" sz="1300" dirty="0">
                <a:solidFill>
                  <a:schemeClr val="bg1"/>
                </a:solidFill>
              </a:rPr>
              <a:t>Buyers keep each fitting, opt out for a credit, or upgrade.</a:t>
            </a:r>
            <a:endParaRPr lang="en-US" sz="1300" dirty="0"/>
          </a:p>
        </p:txBody>
      </p:sp>
      <p:sp>
        <p:nvSpPr>
          <p:cNvPr id="18" name="Arrow 2"/>
          <p:cNvSpPr/>
          <p:nvPr/>
        </p:nvSpPr>
        <p:spPr>
          <a:xfrm>
            <a:off x="5952744" y="3497580"/>
            <a:ext cx="283464" cy="0"/>
          </a:xfrm>
          <a:prstGeom prst="line">
            <a:avLst/>
          </a:prstGeom>
          <a:noFill/>
          <a:ln w="25400">
            <a:solidFill>
              <a:srgbClr val="8C8C8C"/>
            </a:solidFill>
            <a:prstDash val="solid"/>
            <a:tailEnd type="triangle"/>
          </a:ln>
        </p:spPr>
      </p:sp>
      <p:sp>
        <p:nvSpPr>
          <p:cNvPr id="19" name="Match card"/>
          <p:cNvSpPr/>
          <p:nvPr/>
        </p:nvSpPr>
        <p:spPr>
          <a:xfrm>
            <a:off x="6300216" y="2011680"/>
            <a:ext cx="2350008" cy="2971800"/>
          </a:xfrm>
          <a:prstGeom prst="roundRect">
            <a:avLst>
              <a:gd name="adj" fmla="val 4669"/>
            </a:avLst>
          </a:prstGeom>
          <a:solidFill>
            <a:schemeClr val="bg2"/>
          </a:solidFill>
          <a:ln w="12700">
            <a:solidFill>
              <a:schemeClr val="bg2"/>
            </a:solidFill>
            <a:prstDash val="solid"/>
          </a:ln>
        </p:spPr>
      </p:sp>
      <p:sp>
        <p:nvSpPr>
          <p:cNvPr id="20" name="Step 3 circle"/>
          <p:cNvSpPr/>
          <p:nvPr/>
        </p:nvSpPr>
        <p:spPr>
          <a:xfrm>
            <a:off x="6528816" y="2240280"/>
            <a:ext cx="502920" cy="502920"/>
          </a:xfrm>
          <a:prstGeom prst="ellipse">
            <a:avLst/>
          </a:prstGeom>
          <a:solidFill>
            <a:schemeClr val="accent1"/>
          </a:solidFill>
          <a:ln w="12700">
            <a:solidFill>
              <a:schemeClr val="accent1"/>
            </a:solidFill>
            <a:prstDash val="solid"/>
          </a:ln>
        </p:spPr>
      </p:sp>
      <p:sp>
        <p:nvSpPr>
          <p:cNvPr id="21" name="Step 3 number"/>
          <p:cNvSpPr txBox="1"/>
          <p:nvPr/>
        </p:nvSpPr>
        <p:spPr>
          <a:xfrm>
            <a:off x="6528816" y="22402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Match"/>
          <p:cNvSpPr txBox="1"/>
          <p:nvPr/>
        </p:nvSpPr>
        <p:spPr>
          <a:xfrm>
            <a:off x="6528816" y="2880360"/>
            <a:ext cx="1892808" cy="502920"/>
          </a:xfrm>
          <a:prstGeom prst="rect">
            <a:avLst/>
          </a:prstGeom>
          <a:noFill/>
          <a:ln/>
        </p:spPr>
        <p:txBody>
          <a:bodyPr wrap="square" lIns="0" tIns="0" rIns="0" bIns="0" rtlCol="0" anchor="t"/>
          <a:lstStyle/>
          <a:p>
            <a:pPr indent="0" marL="0">
              <a:buNone/>
            </a:pPr>
            <a:r>
              <a:rPr lang="en-US" sz="2400" b="1" dirty="0">
                <a:solidFill>
                  <a:schemeClr val="tx1"/>
                </a:solidFill>
              </a:rPr>
              <a:t>Match</a:t>
            </a:r>
            <a:endParaRPr lang="en-US" sz="2400" dirty="0"/>
          </a:p>
        </p:txBody>
      </p:sp>
      <p:sp>
        <p:nvSpPr>
          <p:cNvPr id="23" name="Match question"/>
          <p:cNvSpPr txBox="1"/>
          <p:nvPr/>
        </p:nvSpPr>
        <p:spPr>
          <a:xfrm>
            <a:off x="6528816" y="3383280"/>
            <a:ext cx="1892808" cy="548640"/>
          </a:xfrm>
          <a:prstGeom prst="rect">
            <a:avLst/>
          </a:prstGeom>
          <a:noFill/>
          <a:ln/>
        </p:spPr>
        <p:txBody>
          <a:bodyPr wrap="square" lIns="0" tIns="0" rIns="0" bIns="0" rtlCol="0" anchor="t"/>
          <a:lstStyle/>
          <a:p>
            <a:pPr indent="0" marL="0">
              <a:buNone/>
            </a:pPr>
            <a:r>
              <a:rPr lang="en-US" sz="1400" b="1" dirty="0">
                <a:solidFill>
                  <a:schemeClr val="tx1"/>
                </a:solidFill>
              </a:rPr>
              <a:t>Give it to a neighbour</a:t>
            </a:r>
            <a:endParaRPr lang="en-US" sz="1400" dirty="0"/>
          </a:p>
        </p:txBody>
      </p:sp>
      <p:sp>
        <p:nvSpPr>
          <p:cNvPr id="24" name="Match detail"/>
          <p:cNvSpPr txBox="1"/>
          <p:nvPr/>
        </p:nvSpPr>
        <p:spPr>
          <a:xfrm>
            <a:off x="6528816" y="3931920"/>
            <a:ext cx="1892808" cy="960120"/>
          </a:xfrm>
          <a:prstGeom prst="rect">
            <a:avLst/>
          </a:prstGeom>
          <a:noFill/>
          <a:ln/>
        </p:spPr>
        <p:txBody>
          <a:bodyPr wrap="square" lIns="0" tIns="0" rIns="0" bIns="0" rtlCol="0" anchor="t"/>
          <a:lstStyle/>
          <a:p>
            <a:pPr indent="0" marL="0">
              <a:buNone/>
            </a:pPr>
            <a:r>
              <a:rPr lang="en-US" sz="1300" dirty="0">
                <a:solidFill>
                  <a:schemeClr val="tx2"/>
                </a:solidFill>
              </a:rPr>
              <a:t>Anything still removed goes to the nearest owner with the same design.</a:t>
            </a:r>
            <a:endParaRPr lang="en-US" sz="1300" dirty="0"/>
          </a:p>
        </p:txBody>
      </p:sp>
      <p:sp>
        <p:nvSpPr>
          <p:cNvPr id="25" name="Arrow 3"/>
          <p:cNvSpPr/>
          <p:nvPr/>
        </p:nvSpPr>
        <p:spPr>
          <a:xfrm>
            <a:off x="8714232" y="3497580"/>
            <a:ext cx="283464" cy="0"/>
          </a:xfrm>
          <a:prstGeom prst="line">
            <a:avLst/>
          </a:prstGeom>
          <a:noFill/>
          <a:ln w="25400">
            <a:solidFill>
              <a:srgbClr val="8C8C8C"/>
            </a:solidFill>
            <a:prstDash val="solid"/>
            <a:tailEnd type="triangle"/>
          </a:ln>
        </p:spPr>
      </p:sp>
      <p:sp>
        <p:nvSpPr>
          <p:cNvPr id="26" name="Learn card"/>
          <p:cNvSpPr/>
          <p:nvPr/>
        </p:nvSpPr>
        <p:spPr>
          <a:xfrm>
            <a:off x="9061704" y="2011680"/>
            <a:ext cx="2350008" cy="2971800"/>
          </a:xfrm>
          <a:prstGeom prst="roundRect">
            <a:avLst>
              <a:gd name="adj" fmla="val 4669"/>
            </a:avLst>
          </a:prstGeom>
          <a:solidFill>
            <a:schemeClr val="bg2"/>
          </a:solidFill>
          <a:ln w="12700">
            <a:solidFill>
              <a:schemeClr val="bg2"/>
            </a:solidFill>
            <a:prstDash val="solid"/>
          </a:ln>
        </p:spPr>
      </p:sp>
      <p:sp>
        <p:nvSpPr>
          <p:cNvPr id="27" name="Step 4 circle"/>
          <p:cNvSpPr/>
          <p:nvPr/>
        </p:nvSpPr>
        <p:spPr>
          <a:xfrm>
            <a:off x="9290304" y="2240280"/>
            <a:ext cx="502920" cy="502920"/>
          </a:xfrm>
          <a:prstGeom prst="ellipse">
            <a:avLst/>
          </a:prstGeom>
          <a:solidFill>
            <a:schemeClr val="accent1"/>
          </a:solidFill>
          <a:ln w="12700">
            <a:solidFill>
              <a:schemeClr val="accent1"/>
            </a:solidFill>
            <a:prstDash val="solid"/>
          </a:ln>
        </p:spPr>
      </p:sp>
      <p:sp>
        <p:nvSpPr>
          <p:cNvPr id="28" name="Step 4 number"/>
          <p:cNvSpPr txBox="1"/>
          <p:nvPr/>
        </p:nvSpPr>
        <p:spPr>
          <a:xfrm>
            <a:off x="9290304" y="22402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9" name="Learn"/>
          <p:cNvSpPr txBox="1"/>
          <p:nvPr/>
        </p:nvSpPr>
        <p:spPr>
          <a:xfrm>
            <a:off x="9290304" y="2880360"/>
            <a:ext cx="1892808" cy="502920"/>
          </a:xfrm>
          <a:prstGeom prst="rect">
            <a:avLst/>
          </a:prstGeom>
          <a:noFill/>
          <a:ln/>
        </p:spPr>
        <p:txBody>
          <a:bodyPr wrap="square" lIns="0" tIns="0" rIns="0" bIns="0" rtlCol="0" anchor="t"/>
          <a:lstStyle/>
          <a:p>
            <a:pPr indent="0" marL="0">
              <a:buNone/>
            </a:pPr>
            <a:r>
              <a:rPr lang="en-US" sz="2400" b="1" dirty="0">
                <a:solidFill>
                  <a:schemeClr val="tx1"/>
                </a:solidFill>
              </a:rPr>
              <a:t>Learn</a:t>
            </a:r>
            <a:endParaRPr lang="en-US" sz="2400" dirty="0"/>
          </a:p>
        </p:txBody>
      </p:sp>
      <p:sp>
        <p:nvSpPr>
          <p:cNvPr id="30" name="Learn question"/>
          <p:cNvSpPr txBox="1"/>
          <p:nvPr/>
        </p:nvSpPr>
        <p:spPr>
          <a:xfrm>
            <a:off x="9290304" y="3383280"/>
            <a:ext cx="1892808" cy="548640"/>
          </a:xfrm>
          <a:prstGeom prst="rect">
            <a:avLst/>
          </a:prstGeom>
          <a:noFill/>
          <a:ln/>
        </p:spPr>
        <p:txBody>
          <a:bodyPr wrap="square" lIns="0" tIns="0" rIns="0" bIns="0" rtlCol="0" anchor="t"/>
          <a:lstStyle/>
          <a:p>
            <a:pPr indent="0" marL="0">
              <a:buNone/>
            </a:pPr>
            <a:r>
              <a:rPr lang="en-US" sz="1400" b="1" dirty="0">
                <a:solidFill>
                  <a:schemeClr val="tx1"/>
                </a:solidFill>
              </a:rPr>
              <a:t>Tell SDP what to change</a:t>
            </a:r>
            <a:endParaRPr lang="en-US" sz="1400" dirty="0"/>
          </a:p>
        </p:txBody>
      </p:sp>
      <p:sp>
        <p:nvSpPr>
          <p:cNvPr id="31" name="Learn detail"/>
          <p:cNvSpPr txBox="1"/>
          <p:nvPr/>
        </p:nvSpPr>
        <p:spPr>
          <a:xfrm>
            <a:off x="9290304" y="3931920"/>
            <a:ext cx="1892808" cy="960120"/>
          </a:xfrm>
          <a:prstGeom prst="rect">
            <a:avLst/>
          </a:prstGeom>
          <a:noFill/>
          <a:ln/>
        </p:spPr>
        <p:txBody>
          <a:bodyPr wrap="square" lIns="0" tIns="0" rIns="0" bIns="0" rtlCol="0" anchor="t"/>
          <a:lstStyle/>
          <a:p>
            <a:pPr indent="0" marL="0">
              <a:buNone/>
            </a:pPr>
            <a:r>
              <a:rPr lang="en-US" sz="1300" dirty="0">
                <a:solidFill>
                  <a:schemeClr val="tx2"/>
                </a:solidFill>
              </a:rPr>
              <a:t>"Stop installing item X in unit type B" for the next launch.</a:t>
            </a:r>
            <a:endParaRPr lang="en-US" sz="1300" dirty="0"/>
          </a:p>
        </p:txBody>
      </p:sp>
      <p:sp>
        <p:nvSpPr>
          <p:cNvPr id="32" name="Loop down"/>
          <p:cNvSpPr/>
          <p:nvPr/>
        </p:nvSpPr>
        <p:spPr>
          <a:xfrm>
            <a:off x="10236708" y="5029200"/>
            <a:ext cx="0" cy="365760"/>
          </a:xfrm>
          <a:prstGeom prst="line">
            <a:avLst/>
          </a:prstGeom>
          <a:noFill/>
          <a:ln w="25400">
            <a:solidFill>
              <a:srgbClr val="8C8C8C"/>
            </a:solidFill>
            <a:prstDash val="solid"/>
          </a:ln>
        </p:spPr>
      </p:sp>
      <p:sp>
        <p:nvSpPr>
          <p:cNvPr id="33" name="Loop back"/>
          <p:cNvSpPr/>
          <p:nvPr/>
        </p:nvSpPr>
        <p:spPr>
          <a:xfrm flipH="1">
            <a:off x="1952244" y="5394960"/>
            <a:ext cx="8284464" cy="0"/>
          </a:xfrm>
          <a:prstGeom prst="line">
            <a:avLst/>
          </a:prstGeom>
          <a:noFill/>
          <a:ln w="25400">
            <a:solidFill>
              <a:srgbClr val="8C8C8C"/>
            </a:solidFill>
            <a:prstDash val="solid"/>
          </a:ln>
        </p:spPr>
      </p:sp>
      <p:sp>
        <p:nvSpPr>
          <p:cNvPr id="34" name="Loop up"/>
          <p:cNvSpPr/>
          <p:nvPr/>
        </p:nvSpPr>
        <p:spPr>
          <a:xfrm flipV="1">
            <a:off x="1952244" y="5029200"/>
            <a:ext cx="0" cy="365760"/>
          </a:xfrm>
          <a:prstGeom prst="line">
            <a:avLst/>
          </a:prstGeom>
          <a:noFill/>
          <a:ln w="25400">
            <a:solidFill>
              <a:srgbClr val="8C8C8C"/>
            </a:solidFill>
            <a:prstDash val="solid"/>
            <a:tailEnd type="triangle"/>
          </a:ln>
        </p:spPr>
      </p:sp>
      <p:sp>
        <p:nvSpPr>
          <p:cNvPr id="35" name="Loop caption"/>
          <p:cNvSpPr txBox="1"/>
          <p:nvPr/>
        </p:nvSpPr>
        <p:spPr>
          <a:xfrm>
            <a:off x="2226564" y="5486400"/>
            <a:ext cx="7735824" cy="365760"/>
          </a:xfrm>
          <a:prstGeom prst="rect">
            <a:avLst/>
          </a:prstGeom>
          <a:noFill/>
          <a:ln/>
        </p:spPr>
        <p:txBody>
          <a:bodyPr wrap="square" lIns="0" tIns="0" rIns="0" bIns="0" rtlCol="0" anchor="t"/>
          <a:lstStyle/>
          <a:p>
            <a:pPr algn="ctr" indent="0" marL="0">
              <a:buNone/>
            </a:pPr>
            <a:r>
              <a:rPr lang="en-US" sz="1400" i="1" dirty="0">
                <a:solidFill>
                  <a:schemeClr val="tx2"/>
                </a:solidFill>
              </a:rPr>
              <a:t>Each launch feeds the next: the rip-out index gets sharper every time</a:t>
            </a:r>
            <a:endParaRPr lang="en-US" sz="1400" dirty="0"/>
          </a:p>
        </p:txBody>
      </p:sp>
      <p:sp>
        <p:nvSpPr>
          <p:cNvPr id="36" name="Key point"/>
          <p:cNvSpPr txBox="1"/>
          <p:nvPr/>
        </p:nvSpPr>
        <p:spPr>
          <a:xfrm>
            <a:off x="777240" y="5943600"/>
            <a:ext cx="10634472" cy="365760"/>
          </a:xfrm>
          <a:prstGeom prst="rect">
            <a:avLst/>
          </a:prstGeom>
          <a:noFill/>
          <a:ln/>
        </p:spPr>
        <p:txBody>
          <a:bodyPr wrap="square" lIns="0" tIns="0" rIns="0" bIns="0" rtlCol="0" anchor="t"/>
          <a:lstStyle/>
          <a:p>
            <a:pPr indent="0" marL="0">
              <a:buNone/>
            </a:pPr>
            <a:r>
              <a:rPr lang="en-US" sz="1400" b="1" dirty="0">
                <a:solidFill>
                  <a:schemeClr val="accent1"/>
                </a:solidFill>
              </a:rPr>
              <a:t>Step 2 is where waste is actually stopped. The other three give it better information each time.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4. Innovation</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Most waste ideas clean up after the damage. This one prevents it</a:t>
            </a:r>
            <a:endParaRPr lang="en-US" sz="1800" dirty="0"/>
          </a:p>
        </p:txBody>
      </p:sp>
      <p:graphicFrame>
        <p:nvGraphicFramePr>
          <p:cNvPr id="7" name="Comparison table"/>
          <p:cNvGraphicFramePr>
            <a:graphicFrameLocks noGrp="1"/>
          </p:cNvGraphicFramePr>
          <p:nvPr>
            <p:extLst>
              <p:ext uri="{D42A27DB-BD31-4B8C-83A1-F6EECF244321}">
                <p14:modId xmlns:p14="http://schemas.microsoft.com/office/powerpoint/2010/main" val="1579011935"/>
              </p:ext>
            </p:extLst>
          </p:nvPr>
        </p:nvGraphicFramePr>
        <p:xfrm>
          <a:off x="777240" y="1965960"/>
          <a:ext cx="10634472" cy="914400"/>
        </p:xfrm>
        <a:graphic>
          <a:graphicData uri="http://schemas.openxmlformats.org/drawingml/2006/table">
            <a:tbl>
              <a:tblPr/>
              <a:tblGrid>
                <a:gridCol w="1828800"/>
                <a:gridCol w="3749040"/>
                <a:gridCol w="5056632"/>
              </a:tblGrid>
              <a:tr h="457200">
                <a:tc>
                  <a:txBody>
                    <a:bodyPr/>
                    <a:lstStyle/>
                    <a:p>
                      <a:pPr indent="0" marL="0">
                        <a:buNone/>
                      </a:pP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b="1" dirty="0">
                          <a:solidFill>
                            <a:srgbClr val="595959"/>
                          </a:solidFill>
                          <a:latin typeface="Century Gothic" pitchFamily="34" charset="0"/>
                          <a:ea typeface="Century Gothic" pitchFamily="34" charset="-122"/>
                          <a:cs typeface="Century Gothic" pitchFamily="34" charset="-120"/>
                        </a:rPr>
                        <a:t>Usual approach</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3F3F3"/>
                    </a:solidFill>
                  </a:tcPr>
                </a:tc>
                <a:tc>
                  <a:txBody>
                    <a:bodyPr/>
                    <a:lstStyle/>
                    <a:p>
                      <a:pPr indent="0" marL="0">
                        <a:buNone/>
                      </a:pPr>
                      <a:r>
                        <a:rPr lang="en-US" sz="1400" b="1" dirty="0">
                          <a:solidFill>
                            <a:srgbClr val="FFFFFF"/>
                          </a:solidFill>
                          <a:latin typeface="Century Gothic" pitchFamily="34" charset="0"/>
                          <a:ea typeface="Century Gothic" pitchFamily="34" charset="-122"/>
                          <a:cs typeface="Century Gothic" pitchFamily="34" charset="-120"/>
                        </a:rPr>
                        <a:t>Right-Fit Homes</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81921"/>
                    </a:solidFill>
                  </a:tcPr>
                </a:tc>
              </a:tr>
              <a:tr h="749808">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When</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595959"/>
                          </a:solidFill>
                          <a:latin typeface="Century Gothic" pitchFamily="34" charset="0"/>
                          <a:ea typeface="Century Gothic" pitchFamily="34" charset="-122"/>
                          <a:cs typeface="Century Gothic" pitchFamily="34" charset="-120"/>
                        </a:rPr>
                        <a:t>Recycle or resell after the fitting is ripped out</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Stop it before it is built: buyers choose when they book</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49808">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Reuse</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595959"/>
                          </a:solidFill>
                          <a:latin typeface="Century Gothic" pitchFamily="34" charset="0"/>
                          <a:ea typeface="Century Gothic" pitchFamily="34" charset="-122"/>
                          <a:cs typeface="Century Gothic" pitchFamily="34" charset="-120"/>
                        </a:rPr>
                        <a:t>Second-hand sites: measure, hope it fits, arrange a lorry</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Same house design, same size: fits with no measuring, nearest neighbour first</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49808">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Learning</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595959"/>
                          </a:solidFill>
                          <a:latin typeface="Century Gothic" pitchFamily="34" charset="0"/>
                          <a:ea typeface="Century Gothic" pitchFamily="34" charset="-122"/>
                          <a:cs typeface="Century Gothic" pitchFamily="34" charset="-120"/>
                        </a:rPr>
                        <a:t>Every launch repeats the same package</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The rip-out index from real removals shapes the next launch</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49808">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Owners' notes</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595959"/>
                          </a:solidFill>
                          <a:latin typeface="Century Gothic" pitchFamily="34" charset="0"/>
                          <a:ea typeface="Century Gothic" pitchFamily="34" charset="-122"/>
                          <a:cs typeface="Century Gothic" pitchFamily="34" charset="-120"/>
                        </a:rPr>
                        <a:t>Messy notes in renovation forms go unread</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AI reads Malay, English and Manglish notes, with offline rules as backup</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49808">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Carbon claims</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595959"/>
                          </a:solidFill>
                          <a:latin typeface="Century Gothic" pitchFamily="34" charset="0"/>
                          <a:ea typeface="Century Gothic" pitchFamily="34" charset="-122"/>
                          <a:cs typeface="Century Gothic" pitchFamily="34" charset="-120"/>
                        </a:rPr>
                        <a:t>Big totals, hidden assumptions</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b="1" dirty="0">
                          <a:solidFill>
                            <a:srgbClr val="1E1E1E"/>
                          </a:solidFill>
                          <a:latin typeface="Century Gothic" pitchFamily="34" charset="0"/>
                          <a:ea typeface="Century Gothic" pitchFamily="34" charset="-122"/>
                          <a:cs typeface="Century Gothic" pitchFamily="34" charset="-120"/>
                        </a:rPr>
                        <a:t>Counted only for fittings owners would really rip out, net of delivery trips, working shown</a:t>
                      </a:r>
                      <a:endParaRPr lang="en-US" sz="1400" dirty="0">
                        <a:latin typeface="Century Gothic" charset="0"/>
                        <a:ea typeface="Century Gothic" charset="0"/>
                        <a:cs typeface="Century Gothic" charset="0"/>
                      </a:endParaRPr>
                    </a:p>
                  </a:txBody>
                  <a:tcPr marL="137160" marR="137160"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5. How it Works</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A working web app runs the whole loop on one database</a:t>
            </a:r>
            <a:endParaRPr lang="en-US" sz="1800" dirty="0"/>
          </a:p>
        </p:txBody>
      </p:sp>
      <p:sp>
        <p:nvSpPr>
          <p:cNvPr id="4" name="Owner writes a note box"/>
          <p:cNvSpPr/>
          <p:nvPr/>
        </p:nvSpPr>
        <p:spPr>
          <a:xfrm>
            <a:off x="777240" y="1965960"/>
            <a:ext cx="3209544" cy="1325880"/>
          </a:xfrm>
          <a:prstGeom prst="roundRect">
            <a:avLst>
              <a:gd name="adj" fmla="val 8276"/>
            </a:avLst>
          </a:prstGeom>
          <a:solidFill>
            <a:schemeClr val="bg2"/>
          </a:solidFill>
          <a:ln w="12700">
            <a:solidFill>
              <a:schemeClr val="bg2"/>
            </a:solidFill>
            <a:prstDash val="solid"/>
          </a:ln>
        </p:spPr>
      </p:sp>
      <p:sp>
        <p:nvSpPr>
          <p:cNvPr id="5" name="Step 1 circle"/>
          <p:cNvSpPr/>
          <p:nvPr/>
        </p:nvSpPr>
        <p:spPr>
          <a:xfrm>
            <a:off x="960120" y="2148840"/>
            <a:ext cx="411480" cy="411480"/>
          </a:xfrm>
          <a:prstGeom prst="ellipse">
            <a:avLst/>
          </a:prstGeom>
          <a:solidFill>
            <a:schemeClr val="accent1"/>
          </a:solidFill>
          <a:ln w="12700">
            <a:solidFill>
              <a:schemeClr val="accent1"/>
            </a:solidFill>
            <a:prstDash val="solid"/>
          </a:ln>
        </p:spPr>
      </p:sp>
      <p:sp>
        <p:nvSpPr>
          <p:cNvPr id="6" name="Step 1 number"/>
          <p:cNvSpPr txBox="1"/>
          <p:nvPr/>
        </p:nvSpPr>
        <p:spPr>
          <a:xfrm>
            <a:off x="960120" y="21488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Owner writes a note"/>
          <p:cNvSpPr txBox="1"/>
          <p:nvPr/>
        </p:nvSpPr>
        <p:spPr>
          <a:xfrm>
            <a:off x="1508760" y="2121408"/>
            <a:ext cx="2295144" cy="457200"/>
          </a:xfrm>
          <a:prstGeom prst="rect">
            <a:avLst/>
          </a:prstGeom>
          <a:noFill/>
          <a:ln/>
        </p:spPr>
        <p:txBody>
          <a:bodyPr wrap="square" lIns="0" tIns="0" rIns="0" bIns="0" rtlCol="0" anchor="ctr"/>
          <a:lstStyle/>
          <a:p>
            <a:pPr indent="0" marL="0">
              <a:buNone/>
            </a:pPr>
            <a:r>
              <a:rPr lang="en-US" sz="1500" b="1" dirty="0">
                <a:solidFill>
                  <a:schemeClr val="tx1"/>
                </a:solidFill>
              </a:rPr>
              <a:t>Owner writes a note</a:t>
            </a:r>
            <a:endParaRPr lang="en-US" sz="1500" dirty="0"/>
          </a:p>
        </p:txBody>
      </p:sp>
      <p:sp>
        <p:nvSpPr>
          <p:cNvPr id="8" name="Owner writes a note detail"/>
          <p:cNvSpPr txBox="1"/>
          <p:nvPr/>
        </p:nvSpPr>
        <p:spPr>
          <a:xfrm>
            <a:off x="960120" y="2624328"/>
            <a:ext cx="2843784" cy="621792"/>
          </a:xfrm>
          <a:prstGeom prst="rect">
            <a:avLst/>
          </a:prstGeom>
          <a:noFill/>
          <a:ln/>
        </p:spPr>
        <p:txBody>
          <a:bodyPr wrap="square" lIns="0" tIns="0" rIns="0" bIns="0" rtlCol="0" anchor="t"/>
          <a:lstStyle/>
          <a:p>
            <a:pPr indent="0" marL="0">
              <a:buNone/>
            </a:pPr>
            <a:r>
              <a:rPr lang="en-US" sz="1250" dirty="0">
                <a:solidFill>
                  <a:schemeClr val="tx2"/>
                </a:solidFill>
              </a:rPr>
              <a:t>In any language: "hak semua kabinet dapur, tukar quartz top"</a:t>
            </a:r>
            <a:endParaRPr lang="en-US" sz="1250" dirty="0"/>
          </a:p>
        </p:txBody>
      </p:sp>
      <p:sp>
        <p:nvSpPr>
          <p:cNvPr id="9" name="Flow 1"/>
          <p:cNvSpPr/>
          <p:nvPr/>
        </p:nvSpPr>
        <p:spPr>
          <a:xfrm>
            <a:off x="4050792" y="2628900"/>
            <a:ext cx="374904" cy="0"/>
          </a:xfrm>
          <a:prstGeom prst="line">
            <a:avLst/>
          </a:prstGeom>
          <a:noFill/>
          <a:ln w="25400">
            <a:solidFill>
              <a:srgbClr val="8C8C8C"/>
            </a:solidFill>
            <a:prstDash val="solid"/>
            <a:tailEnd type="triangle"/>
          </a:ln>
        </p:spPr>
      </p:sp>
      <p:sp>
        <p:nvSpPr>
          <p:cNvPr id="10" name="AI tagging box"/>
          <p:cNvSpPr/>
          <p:nvPr/>
        </p:nvSpPr>
        <p:spPr>
          <a:xfrm>
            <a:off x="4489704" y="1965960"/>
            <a:ext cx="3209544" cy="1325880"/>
          </a:xfrm>
          <a:prstGeom prst="roundRect">
            <a:avLst>
              <a:gd name="adj" fmla="val 8276"/>
            </a:avLst>
          </a:prstGeom>
          <a:solidFill>
            <a:schemeClr val="bg2"/>
          </a:solidFill>
          <a:ln w="12700">
            <a:solidFill>
              <a:schemeClr val="bg2"/>
            </a:solidFill>
            <a:prstDash val="solid"/>
          </a:ln>
        </p:spPr>
      </p:sp>
      <p:sp>
        <p:nvSpPr>
          <p:cNvPr id="11" name="Step 2 circle"/>
          <p:cNvSpPr/>
          <p:nvPr/>
        </p:nvSpPr>
        <p:spPr>
          <a:xfrm>
            <a:off x="4672584" y="2148840"/>
            <a:ext cx="411480" cy="411480"/>
          </a:xfrm>
          <a:prstGeom prst="ellipse">
            <a:avLst/>
          </a:prstGeom>
          <a:solidFill>
            <a:schemeClr val="accent1"/>
          </a:solidFill>
          <a:ln w="12700">
            <a:solidFill>
              <a:schemeClr val="accent1"/>
            </a:solidFill>
            <a:prstDash val="solid"/>
          </a:ln>
        </p:spPr>
      </p:sp>
      <p:sp>
        <p:nvSpPr>
          <p:cNvPr id="12" name="Step 2 number"/>
          <p:cNvSpPr txBox="1"/>
          <p:nvPr/>
        </p:nvSpPr>
        <p:spPr>
          <a:xfrm>
            <a:off x="4672584" y="21488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AI tagging"/>
          <p:cNvSpPr txBox="1"/>
          <p:nvPr/>
        </p:nvSpPr>
        <p:spPr>
          <a:xfrm>
            <a:off x="5221224" y="2121408"/>
            <a:ext cx="2295144" cy="457200"/>
          </a:xfrm>
          <a:prstGeom prst="rect">
            <a:avLst/>
          </a:prstGeom>
          <a:noFill/>
          <a:ln/>
        </p:spPr>
        <p:txBody>
          <a:bodyPr wrap="square" lIns="0" tIns="0" rIns="0" bIns="0" rtlCol="0" anchor="ctr"/>
          <a:lstStyle/>
          <a:p>
            <a:pPr indent="0" marL="0">
              <a:buNone/>
            </a:pPr>
            <a:r>
              <a:rPr lang="en-US" sz="1500" b="1" dirty="0">
                <a:solidFill>
                  <a:schemeClr val="tx1"/>
                </a:solidFill>
              </a:rPr>
              <a:t>AI tagging</a:t>
            </a:r>
            <a:endParaRPr lang="en-US" sz="1500" dirty="0"/>
          </a:p>
        </p:txBody>
      </p:sp>
      <p:sp>
        <p:nvSpPr>
          <p:cNvPr id="14" name="AI tagging detail"/>
          <p:cNvSpPr txBox="1"/>
          <p:nvPr/>
        </p:nvSpPr>
        <p:spPr>
          <a:xfrm>
            <a:off x="4672584" y="2624328"/>
            <a:ext cx="2843784" cy="621792"/>
          </a:xfrm>
          <a:prstGeom prst="rect">
            <a:avLst/>
          </a:prstGeom>
          <a:noFill/>
          <a:ln/>
        </p:spPr>
        <p:txBody>
          <a:bodyPr wrap="square" lIns="0" tIns="0" rIns="0" bIns="0" rtlCol="0" anchor="t"/>
          <a:lstStyle/>
          <a:p>
            <a:pPr indent="0" marL="0">
              <a:buNone/>
            </a:pPr>
            <a:r>
              <a:rPr lang="en-US" sz="1250" dirty="0">
                <a:solidFill>
                  <a:schemeClr val="tx2"/>
                </a:solidFill>
              </a:rPr>
              <a:t>Claude sorts the note into standard fittings; offline keyword rules are the backup</a:t>
            </a:r>
            <a:endParaRPr lang="en-US" sz="1250" dirty="0"/>
          </a:p>
        </p:txBody>
      </p:sp>
      <p:sp>
        <p:nvSpPr>
          <p:cNvPr id="15" name="Flow 2"/>
          <p:cNvSpPr/>
          <p:nvPr/>
        </p:nvSpPr>
        <p:spPr>
          <a:xfrm>
            <a:off x="7763256" y="2628900"/>
            <a:ext cx="374904" cy="0"/>
          </a:xfrm>
          <a:prstGeom prst="line">
            <a:avLst/>
          </a:prstGeom>
          <a:noFill/>
          <a:ln w="25400">
            <a:solidFill>
              <a:srgbClr val="8C8C8C"/>
            </a:solidFill>
            <a:prstDash val="solid"/>
            <a:tailEnd type="triangle"/>
          </a:ln>
        </p:spPr>
      </p:sp>
      <p:sp>
        <p:nvSpPr>
          <p:cNvPr id="16" name="Rip-out index box"/>
          <p:cNvSpPr/>
          <p:nvPr/>
        </p:nvSpPr>
        <p:spPr>
          <a:xfrm>
            <a:off x="8202168" y="1965960"/>
            <a:ext cx="3209544" cy="1325880"/>
          </a:xfrm>
          <a:prstGeom prst="roundRect">
            <a:avLst>
              <a:gd name="adj" fmla="val 8276"/>
            </a:avLst>
          </a:prstGeom>
          <a:solidFill>
            <a:schemeClr val="bg2"/>
          </a:solidFill>
          <a:ln w="12700">
            <a:solidFill>
              <a:schemeClr val="bg2"/>
            </a:solidFill>
            <a:prstDash val="solid"/>
          </a:ln>
        </p:spPr>
      </p:sp>
      <p:sp>
        <p:nvSpPr>
          <p:cNvPr id="17" name="Step 3 circle"/>
          <p:cNvSpPr/>
          <p:nvPr/>
        </p:nvSpPr>
        <p:spPr>
          <a:xfrm>
            <a:off x="8385048" y="2148840"/>
            <a:ext cx="411480" cy="411480"/>
          </a:xfrm>
          <a:prstGeom prst="ellipse">
            <a:avLst/>
          </a:prstGeom>
          <a:solidFill>
            <a:schemeClr val="accent1"/>
          </a:solidFill>
          <a:ln w="12700">
            <a:solidFill>
              <a:schemeClr val="accent1"/>
            </a:solidFill>
            <a:prstDash val="solid"/>
          </a:ln>
        </p:spPr>
      </p:sp>
      <p:sp>
        <p:nvSpPr>
          <p:cNvPr id="18" name="Step 3 number"/>
          <p:cNvSpPr txBox="1"/>
          <p:nvPr/>
        </p:nvSpPr>
        <p:spPr>
          <a:xfrm>
            <a:off x="8385048" y="21488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Rip-out index"/>
          <p:cNvSpPr txBox="1"/>
          <p:nvPr/>
        </p:nvSpPr>
        <p:spPr>
          <a:xfrm>
            <a:off x="8933688" y="2121408"/>
            <a:ext cx="2295144" cy="457200"/>
          </a:xfrm>
          <a:prstGeom prst="rect">
            <a:avLst/>
          </a:prstGeom>
          <a:noFill/>
          <a:ln/>
        </p:spPr>
        <p:txBody>
          <a:bodyPr wrap="square" lIns="0" tIns="0" rIns="0" bIns="0" rtlCol="0" anchor="ctr"/>
          <a:lstStyle/>
          <a:p>
            <a:pPr indent="0" marL="0">
              <a:buNone/>
            </a:pPr>
            <a:r>
              <a:rPr lang="en-US" sz="1500" b="1" dirty="0">
                <a:solidFill>
                  <a:schemeClr val="tx1"/>
                </a:solidFill>
              </a:rPr>
              <a:t>Rip-out index</a:t>
            </a:r>
            <a:endParaRPr lang="en-US" sz="1500" dirty="0"/>
          </a:p>
        </p:txBody>
      </p:sp>
      <p:sp>
        <p:nvSpPr>
          <p:cNvPr id="20" name="Rip-out index detail"/>
          <p:cNvSpPr txBox="1"/>
          <p:nvPr/>
        </p:nvSpPr>
        <p:spPr>
          <a:xfrm>
            <a:off x="8385048" y="2624328"/>
            <a:ext cx="2843784" cy="621792"/>
          </a:xfrm>
          <a:prstGeom prst="rect">
            <a:avLst/>
          </a:prstGeom>
          <a:noFill/>
          <a:ln/>
        </p:spPr>
        <p:txBody>
          <a:bodyPr wrap="square" lIns="0" tIns="0" rIns="0" bIns="0" rtlCol="0" anchor="t"/>
          <a:lstStyle/>
          <a:p>
            <a:pPr indent="0" marL="0">
              <a:buNone/>
            </a:pPr>
            <a:r>
              <a:rPr lang="en-US" sz="1250" dirty="0">
                <a:solidFill>
                  <a:schemeClr val="tx2"/>
                </a:solidFill>
              </a:rPr>
              <a:t>The share of owners who removed each fitting, per house design</a:t>
            </a:r>
            <a:endParaRPr lang="en-US" sz="1250" dirty="0"/>
          </a:p>
        </p:txBody>
      </p:sp>
      <p:sp>
        <p:nvSpPr>
          <p:cNvPr id="21" name="Buyer Advisor box"/>
          <p:cNvSpPr/>
          <p:nvPr/>
        </p:nvSpPr>
        <p:spPr>
          <a:xfrm>
            <a:off x="777240" y="3703320"/>
            <a:ext cx="3209544" cy="1325880"/>
          </a:xfrm>
          <a:prstGeom prst="roundRect">
            <a:avLst>
              <a:gd name="adj" fmla="val 8276"/>
            </a:avLst>
          </a:prstGeom>
          <a:solidFill>
            <a:schemeClr val="bg2"/>
          </a:solidFill>
          <a:ln w="12700">
            <a:solidFill>
              <a:schemeClr val="bg2"/>
            </a:solidFill>
            <a:prstDash val="solid"/>
          </a:ln>
        </p:spPr>
      </p:sp>
      <p:sp>
        <p:nvSpPr>
          <p:cNvPr id="22" name="Step 4 circle"/>
          <p:cNvSpPr/>
          <p:nvPr/>
        </p:nvSpPr>
        <p:spPr>
          <a:xfrm>
            <a:off x="960120" y="3886200"/>
            <a:ext cx="411480" cy="411480"/>
          </a:xfrm>
          <a:prstGeom prst="ellipse">
            <a:avLst/>
          </a:prstGeom>
          <a:solidFill>
            <a:schemeClr val="accent1"/>
          </a:solidFill>
          <a:ln w="12700">
            <a:solidFill>
              <a:schemeClr val="accent1"/>
            </a:solidFill>
            <a:prstDash val="solid"/>
          </a:ln>
        </p:spPr>
      </p:sp>
      <p:sp>
        <p:nvSpPr>
          <p:cNvPr id="23" name="Step 4 number"/>
          <p:cNvSpPr txBox="1"/>
          <p:nvPr/>
        </p:nvSpPr>
        <p:spPr>
          <a:xfrm>
            <a:off x="960120" y="3886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Buyer Advisor"/>
          <p:cNvSpPr txBox="1"/>
          <p:nvPr/>
        </p:nvSpPr>
        <p:spPr>
          <a:xfrm>
            <a:off x="1508760" y="3858768"/>
            <a:ext cx="2295144" cy="457200"/>
          </a:xfrm>
          <a:prstGeom prst="rect">
            <a:avLst/>
          </a:prstGeom>
          <a:noFill/>
          <a:ln/>
        </p:spPr>
        <p:txBody>
          <a:bodyPr wrap="square" lIns="0" tIns="0" rIns="0" bIns="0" rtlCol="0" anchor="ctr"/>
          <a:lstStyle/>
          <a:p>
            <a:pPr indent="0" marL="0">
              <a:buNone/>
            </a:pPr>
            <a:r>
              <a:rPr lang="en-US" sz="1500" b="1" dirty="0">
                <a:solidFill>
                  <a:schemeClr val="tx1"/>
                </a:solidFill>
              </a:rPr>
              <a:t>Buyer Advisor</a:t>
            </a:r>
            <a:endParaRPr lang="en-US" sz="1500" dirty="0"/>
          </a:p>
        </p:txBody>
      </p:sp>
      <p:sp>
        <p:nvSpPr>
          <p:cNvPr id="25" name="Buyer Advisor detail"/>
          <p:cNvSpPr txBox="1"/>
          <p:nvPr/>
        </p:nvSpPr>
        <p:spPr>
          <a:xfrm>
            <a:off x="960120" y="4361688"/>
            <a:ext cx="2843784" cy="621792"/>
          </a:xfrm>
          <a:prstGeom prst="rect">
            <a:avLst/>
          </a:prstGeom>
          <a:noFill/>
          <a:ln/>
        </p:spPr>
        <p:txBody>
          <a:bodyPr wrap="square" lIns="0" tIns="0" rIns="0" bIns="0" rtlCol="0" anchor="t"/>
          <a:lstStyle/>
          <a:p>
            <a:pPr indent="0" marL="0">
              <a:buNone/>
            </a:pPr>
            <a:r>
              <a:rPr lang="en-US" sz="1250" dirty="0">
                <a:solidFill>
                  <a:schemeClr val="tx2"/>
                </a:solidFill>
              </a:rPr>
              <a:t>Keep, opt out for a credit, or upgrade, with money and carbon worked out live</a:t>
            </a:r>
            <a:endParaRPr lang="en-US" sz="1250" dirty="0"/>
          </a:p>
        </p:txBody>
      </p:sp>
      <p:sp>
        <p:nvSpPr>
          <p:cNvPr id="26" name="Flow 4"/>
          <p:cNvSpPr/>
          <p:nvPr/>
        </p:nvSpPr>
        <p:spPr>
          <a:xfrm>
            <a:off x="4050792" y="4366260"/>
            <a:ext cx="374904" cy="0"/>
          </a:xfrm>
          <a:prstGeom prst="line">
            <a:avLst/>
          </a:prstGeom>
          <a:noFill/>
          <a:ln w="25400">
            <a:solidFill>
              <a:srgbClr val="8C8C8C"/>
            </a:solidFill>
            <a:prstDash val="solid"/>
            <a:tailEnd type="triangle"/>
          </a:ln>
        </p:spPr>
      </p:sp>
      <p:sp>
        <p:nvSpPr>
          <p:cNvPr id="27" name="Neighbour Match box"/>
          <p:cNvSpPr/>
          <p:nvPr/>
        </p:nvSpPr>
        <p:spPr>
          <a:xfrm>
            <a:off x="4489704" y="3703320"/>
            <a:ext cx="3209544" cy="1325880"/>
          </a:xfrm>
          <a:prstGeom prst="roundRect">
            <a:avLst>
              <a:gd name="adj" fmla="val 8276"/>
            </a:avLst>
          </a:prstGeom>
          <a:solidFill>
            <a:schemeClr val="bg2"/>
          </a:solidFill>
          <a:ln w="12700">
            <a:solidFill>
              <a:schemeClr val="bg2"/>
            </a:solidFill>
            <a:prstDash val="solid"/>
          </a:ln>
        </p:spPr>
      </p:sp>
      <p:sp>
        <p:nvSpPr>
          <p:cNvPr id="28" name="Step 5 circle"/>
          <p:cNvSpPr/>
          <p:nvPr/>
        </p:nvSpPr>
        <p:spPr>
          <a:xfrm>
            <a:off x="4672584" y="3886200"/>
            <a:ext cx="411480" cy="411480"/>
          </a:xfrm>
          <a:prstGeom prst="ellipse">
            <a:avLst/>
          </a:prstGeom>
          <a:solidFill>
            <a:schemeClr val="accent1"/>
          </a:solidFill>
          <a:ln w="12700">
            <a:solidFill>
              <a:schemeClr val="accent1"/>
            </a:solidFill>
            <a:prstDash val="solid"/>
          </a:ln>
        </p:spPr>
      </p:sp>
      <p:sp>
        <p:nvSpPr>
          <p:cNvPr id="29" name="Step 5 number"/>
          <p:cNvSpPr txBox="1"/>
          <p:nvPr/>
        </p:nvSpPr>
        <p:spPr>
          <a:xfrm>
            <a:off x="4672584" y="3886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Neighbour Match"/>
          <p:cNvSpPr txBox="1"/>
          <p:nvPr/>
        </p:nvSpPr>
        <p:spPr>
          <a:xfrm>
            <a:off x="5221224" y="3858768"/>
            <a:ext cx="2295144" cy="457200"/>
          </a:xfrm>
          <a:prstGeom prst="rect">
            <a:avLst/>
          </a:prstGeom>
          <a:noFill/>
          <a:ln/>
        </p:spPr>
        <p:txBody>
          <a:bodyPr wrap="square" lIns="0" tIns="0" rIns="0" bIns="0" rtlCol="0" anchor="ctr"/>
          <a:lstStyle/>
          <a:p>
            <a:pPr indent="0" marL="0">
              <a:buNone/>
            </a:pPr>
            <a:r>
              <a:rPr lang="en-US" sz="1500" b="1" dirty="0">
                <a:solidFill>
                  <a:schemeClr val="tx1"/>
                </a:solidFill>
              </a:rPr>
              <a:t>Neighbour Match</a:t>
            </a:r>
            <a:endParaRPr lang="en-US" sz="1500" dirty="0"/>
          </a:p>
        </p:txBody>
      </p:sp>
      <p:sp>
        <p:nvSpPr>
          <p:cNvPr id="31" name="Neighbour Match detail"/>
          <p:cNvSpPr txBox="1"/>
          <p:nvPr/>
        </p:nvSpPr>
        <p:spPr>
          <a:xfrm>
            <a:off x="4672584" y="4361688"/>
            <a:ext cx="2843784" cy="621792"/>
          </a:xfrm>
          <a:prstGeom prst="rect">
            <a:avLst/>
          </a:prstGeom>
          <a:noFill/>
          <a:ln/>
        </p:spPr>
        <p:txBody>
          <a:bodyPr wrap="square" lIns="0" tIns="0" rIns="0" bIns="0" rtlCol="0" anchor="t"/>
          <a:lstStyle/>
          <a:p>
            <a:pPr indent="0" marL="0">
              <a:buNone/>
            </a:pPr>
            <a:r>
              <a:rPr lang="en-US" sz="1250" dirty="0">
                <a:solidFill>
                  <a:schemeClr val="tx2"/>
                </a:solidFill>
              </a:rPr>
              <a:t>Removed fittings go to the nearest same-design neighbour: map, chat, pick-up</a:t>
            </a:r>
            <a:endParaRPr lang="en-US" sz="1250" dirty="0"/>
          </a:p>
        </p:txBody>
      </p:sp>
      <p:sp>
        <p:nvSpPr>
          <p:cNvPr id="32" name="Flow 5"/>
          <p:cNvSpPr/>
          <p:nvPr/>
        </p:nvSpPr>
        <p:spPr>
          <a:xfrm>
            <a:off x="7763256" y="4366260"/>
            <a:ext cx="374904" cy="0"/>
          </a:xfrm>
          <a:prstGeom prst="line">
            <a:avLst/>
          </a:prstGeom>
          <a:noFill/>
          <a:ln w="25400">
            <a:solidFill>
              <a:srgbClr val="8C8C8C"/>
            </a:solidFill>
            <a:prstDash val="solid"/>
            <a:tailEnd type="triangle"/>
          </a:ln>
        </p:spPr>
      </p:sp>
      <p:sp>
        <p:nvSpPr>
          <p:cNvPr id="33" name="SDP dashboard box"/>
          <p:cNvSpPr/>
          <p:nvPr/>
        </p:nvSpPr>
        <p:spPr>
          <a:xfrm>
            <a:off x="8202168" y="3703320"/>
            <a:ext cx="3209544" cy="1325880"/>
          </a:xfrm>
          <a:prstGeom prst="roundRect">
            <a:avLst>
              <a:gd name="adj" fmla="val 8276"/>
            </a:avLst>
          </a:prstGeom>
          <a:solidFill>
            <a:schemeClr val="bg2"/>
          </a:solidFill>
          <a:ln w="12700">
            <a:solidFill>
              <a:schemeClr val="bg2"/>
            </a:solidFill>
            <a:prstDash val="solid"/>
          </a:ln>
        </p:spPr>
      </p:sp>
      <p:sp>
        <p:nvSpPr>
          <p:cNvPr id="34" name="Step 6 circle"/>
          <p:cNvSpPr/>
          <p:nvPr/>
        </p:nvSpPr>
        <p:spPr>
          <a:xfrm>
            <a:off x="8385048" y="3886200"/>
            <a:ext cx="411480" cy="411480"/>
          </a:xfrm>
          <a:prstGeom prst="ellipse">
            <a:avLst/>
          </a:prstGeom>
          <a:solidFill>
            <a:schemeClr val="accent1"/>
          </a:solidFill>
          <a:ln w="12700">
            <a:solidFill>
              <a:schemeClr val="accent1"/>
            </a:solidFill>
            <a:prstDash val="solid"/>
          </a:ln>
        </p:spPr>
      </p:sp>
      <p:sp>
        <p:nvSpPr>
          <p:cNvPr id="35" name="Step 6 number"/>
          <p:cNvSpPr txBox="1"/>
          <p:nvPr/>
        </p:nvSpPr>
        <p:spPr>
          <a:xfrm>
            <a:off x="8385048" y="3886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6" name="SDP dashboard"/>
          <p:cNvSpPr txBox="1"/>
          <p:nvPr/>
        </p:nvSpPr>
        <p:spPr>
          <a:xfrm>
            <a:off x="8933688" y="3858768"/>
            <a:ext cx="2295144" cy="457200"/>
          </a:xfrm>
          <a:prstGeom prst="rect">
            <a:avLst/>
          </a:prstGeom>
          <a:noFill/>
          <a:ln/>
        </p:spPr>
        <p:txBody>
          <a:bodyPr wrap="square" lIns="0" tIns="0" rIns="0" bIns="0" rtlCol="0" anchor="ctr"/>
          <a:lstStyle/>
          <a:p>
            <a:pPr indent="0" marL="0">
              <a:buNone/>
            </a:pPr>
            <a:r>
              <a:rPr lang="en-US" sz="1500" b="1" dirty="0">
                <a:solidFill>
                  <a:schemeClr val="tx1"/>
                </a:solidFill>
              </a:rPr>
              <a:t>SDP dashboard</a:t>
            </a:r>
            <a:endParaRPr lang="en-US" sz="1500" dirty="0"/>
          </a:p>
        </p:txBody>
      </p:sp>
      <p:sp>
        <p:nvSpPr>
          <p:cNvPr id="37" name="SDP dashboard detail"/>
          <p:cNvSpPr txBox="1"/>
          <p:nvPr/>
        </p:nvSpPr>
        <p:spPr>
          <a:xfrm>
            <a:off x="8385048" y="4361688"/>
            <a:ext cx="2843784" cy="621792"/>
          </a:xfrm>
          <a:prstGeom prst="rect">
            <a:avLst/>
          </a:prstGeom>
          <a:noFill/>
          <a:ln/>
        </p:spPr>
        <p:txBody>
          <a:bodyPr wrap="square" lIns="0" tIns="0" rIns="0" bIns="0" rtlCol="0" anchor="t"/>
          <a:lstStyle/>
          <a:p>
            <a:pPr indent="0" marL="0">
              <a:buNone/>
            </a:pPr>
            <a:r>
              <a:rPr lang="en-US" sz="1250" dirty="0">
                <a:solidFill>
                  <a:schemeClr val="tx2"/>
                </a:solidFill>
              </a:rPr>
              <a:t>"Stop installing X" advice, and What-if projections for a whole launch</a:t>
            </a:r>
            <a:endParaRPr lang="en-US" sz="1250" dirty="0"/>
          </a:p>
        </p:txBody>
      </p:sp>
      <p:sp>
        <p:nvSpPr>
          <p:cNvPr id="38" name="Flow 3 down"/>
          <p:cNvSpPr/>
          <p:nvPr/>
        </p:nvSpPr>
        <p:spPr>
          <a:xfrm>
            <a:off x="9806940" y="3328416"/>
            <a:ext cx="0" cy="169164"/>
          </a:xfrm>
          <a:prstGeom prst="line">
            <a:avLst/>
          </a:prstGeom>
          <a:noFill/>
          <a:ln w="25400">
            <a:solidFill>
              <a:srgbClr val="8C8C8C"/>
            </a:solidFill>
            <a:prstDash val="solid"/>
          </a:ln>
        </p:spPr>
      </p:sp>
      <p:sp>
        <p:nvSpPr>
          <p:cNvPr id="39" name="Flow 3 across"/>
          <p:cNvSpPr/>
          <p:nvPr/>
        </p:nvSpPr>
        <p:spPr>
          <a:xfrm flipH="1">
            <a:off x="2382012" y="3497580"/>
            <a:ext cx="7424928" cy="0"/>
          </a:xfrm>
          <a:prstGeom prst="line">
            <a:avLst/>
          </a:prstGeom>
          <a:noFill/>
          <a:ln w="25400">
            <a:solidFill>
              <a:srgbClr val="8C8C8C"/>
            </a:solidFill>
            <a:prstDash val="solid"/>
          </a:ln>
        </p:spPr>
      </p:sp>
      <p:sp>
        <p:nvSpPr>
          <p:cNvPr id="40" name="Flow 3 to 4"/>
          <p:cNvSpPr/>
          <p:nvPr/>
        </p:nvSpPr>
        <p:spPr>
          <a:xfrm>
            <a:off x="2382012" y="3497580"/>
            <a:ext cx="0" cy="169164"/>
          </a:xfrm>
          <a:prstGeom prst="line">
            <a:avLst/>
          </a:prstGeom>
          <a:noFill/>
          <a:ln w="25400">
            <a:solidFill>
              <a:srgbClr val="8C8C8C"/>
            </a:solidFill>
            <a:prstDash val="solid"/>
            <a:tailEnd type="triangle"/>
          </a:ln>
        </p:spPr>
      </p:sp>
      <p:sp>
        <p:nvSpPr>
          <p:cNvPr id="41" name="Tech band"/>
          <p:cNvSpPr/>
          <p:nvPr/>
        </p:nvSpPr>
        <p:spPr>
          <a:xfrm>
            <a:off x="777240" y="5349240"/>
            <a:ext cx="10634472" cy="960120"/>
          </a:xfrm>
          <a:prstGeom prst="roundRect">
            <a:avLst>
              <a:gd name="adj" fmla="val 11429"/>
            </a:avLst>
          </a:prstGeom>
          <a:solidFill>
            <a:schemeClr val="accent4"/>
          </a:solidFill>
          <a:ln w="12700">
            <a:solidFill>
              <a:schemeClr val="accent4"/>
            </a:solidFill>
            <a:prstDash val="solid"/>
          </a:ln>
        </p:spPr>
      </p:sp>
      <p:sp>
        <p:nvSpPr>
          <p:cNvPr id="42" name="Text 40"/>
          <p:cNvSpPr txBox="1"/>
          <p:nvPr/>
        </p:nvSpPr>
        <p:spPr>
          <a:xfrm>
            <a:off x="1051560" y="5458968"/>
            <a:ext cx="2743200" cy="256032"/>
          </a:xfrm>
          <a:prstGeom prst="rect">
            <a:avLst/>
          </a:prstGeom>
          <a:noFill/>
          <a:ln/>
        </p:spPr>
        <p:txBody>
          <a:bodyPr wrap="square" lIns="0" tIns="0" rIns="0" bIns="0" rtlCol="0" anchor="t"/>
          <a:lstStyle/>
          <a:p>
            <a:pPr indent="0" marL="0">
              <a:buNone/>
            </a:pPr>
            <a:r>
              <a:rPr lang="en-US" sz="1100" b="1" spc="100" kern="0" dirty="0">
                <a:solidFill>
                  <a:schemeClr val="accent3"/>
                </a:solidFill>
              </a:rPr>
              <a:t>UNDER THE HOOD</a:t>
            </a:r>
            <a:endParaRPr lang="en-US" sz="1100" dirty="0"/>
          </a:p>
        </p:txBody>
      </p:sp>
      <p:sp>
        <p:nvSpPr>
          <p:cNvPr id="43" name="Tech stack"/>
          <p:cNvSpPr txBox="1"/>
          <p:nvPr/>
        </p:nvSpPr>
        <p:spPr>
          <a:xfrm>
            <a:off x="1051560" y="5715000"/>
            <a:ext cx="10085832" cy="292608"/>
          </a:xfrm>
          <a:prstGeom prst="rect">
            <a:avLst/>
          </a:prstGeom>
          <a:noFill/>
          <a:ln/>
        </p:spPr>
        <p:txBody>
          <a:bodyPr wrap="square" lIns="0" tIns="0" rIns="0" bIns="0" rtlCol="0" anchor="t"/>
          <a:lstStyle/>
          <a:p>
            <a:pPr indent="0" marL="0">
              <a:buNone/>
            </a:pPr>
            <a:r>
              <a:rPr lang="en-US" sz="1400" b="1" dirty="0">
                <a:solidFill>
                  <a:schemeClr val="bg1"/>
                </a:solidFill>
              </a:rPr>
              <a:t>Flask · Python + pandas · SQLite (9 tables) · Plotly · three.js · Claude API, optional</a:t>
            </a:r>
            <a:endParaRPr lang="en-US" sz="1400" dirty="0"/>
          </a:p>
        </p:txBody>
      </p:sp>
      <p:sp>
        <p:nvSpPr>
          <p:cNvPr id="44" name="Tech note"/>
          <p:cNvSpPr txBox="1"/>
          <p:nvPr/>
        </p:nvSpPr>
        <p:spPr>
          <a:xfrm>
            <a:off x="1051560" y="6007608"/>
            <a:ext cx="10085832" cy="256032"/>
          </a:xfrm>
          <a:prstGeom prst="rect">
            <a:avLst/>
          </a:prstGeom>
          <a:noFill/>
          <a:ln/>
        </p:spPr>
        <p:txBody>
          <a:bodyPr wrap="square" lIns="0" tIns="0" rIns="0" bIns="0" rtlCol="0" anchor="t"/>
          <a:lstStyle/>
          <a:p>
            <a:pPr indent="0" marL="0">
              <a:buNone/>
            </a:pPr>
            <a:r>
              <a:rPr lang="en-US" sz="1200" dirty="0">
                <a:solidFill>
                  <a:schemeClr val="bg1"/>
                </a:solidFill>
              </a:rPr>
              <a:t>Runs fully offline for the demo; every page reads and saves through one database, so each step feeds the next.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6. Impact</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Projected for a 100-home pilot: 84% of the rip-out waste never happens</a:t>
            </a:r>
            <a:endParaRPr lang="en-US" sz="1800" dirty="0"/>
          </a:p>
        </p:txBody>
      </p:sp>
      <p:graphicFrame>
        <p:nvGraphicFramePr>
          <p:cNvPr id="4" name="Waste split chart" descr="Stacked bar: of 71.6 t, 56.2 t never installed, 4.0 t rehomed, 11.3 t still wasted"/>
          <p:cNvGraphicFramePr/>
          <p:nvPr/>
        </p:nvGraphicFramePr>
        <p:xfrm>
          <a:off x="777240" y="1828800"/>
          <a:ext cx="10634472" cy="1691640"/>
        </p:xfrm>
        <a:graphic xmlns:a="http://schemas.openxmlformats.org/drawingml/2006/main">
          <a:graphicData uri="http://schemas.openxmlformats.org/drawingml/2006/chart">
            <c:chart xmlns:c="http://schemas.openxmlformats.org/drawingml/2006/chart" r:id="rId1"/>
          </a:graphicData>
        </a:graphic>
      </p:graphicFrame>
      <p:sp>
        <p:nvSpPr>
          <p:cNvPr id="5" name="CO₂e never released card"/>
          <p:cNvSpPr/>
          <p:nvPr/>
        </p:nvSpPr>
        <p:spPr>
          <a:xfrm>
            <a:off x="777240" y="3749040"/>
            <a:ext cx="2452878" cy="1783080"/>
          </a:xfrm>
          <a:prstGeom prst="roundRect">
            <a:avLst>
              <a:gd name="adj" fmla="val 6154"/>
            </a:avLst>
          </a:prstGeom>
          <a:solidFill>
            <a:schemeClr val="bg2"/>
          </a:solidFill>
          <a:ln w="12700">
            <a:solidFill>
              <a:schemeClr val="bg2"/>
            </a:solidFill>
            <a:prstDash val="solid"/>
          </a:ln>
        </p:spPr>
      </p:sp>
      <p:sp>
        <p:nvSpPr>
          <p:cNvPr id="6" name="46.6 t"/>
          <p:cNvSpPr txBox="1"/>
          <p:nvPr/>
        </p:nvSpPr>
        <p:spPr>
          <a:xfrm>
            <a:off x="960120" y="3931920"/>
            <a:ext cx="2087118" cy="594360"/>
          </a:xfrm>
          <a:prstGeom prst="rect">
            <a:avLst/>
          </a:prstGeom>
          <a:noFill/>
          <a:ln/>
        </p:spPr>
        <p:txBody>
          <a:bodyPr wrap="square" lIns="0" tIns="0" rIns="0" bIns="0" rtlCol="0" anchor="t"/>
          <a:lstStyle/>
          <a:p>
            <a:pPr indent="0" marL="0">
              <a:buNone/>
            </a:pPr>
            <a:r>
              <a:rPr lang="en-US" sz="2800" b="1" dirty="0">
                <a:solidFill>
                  <a:schemeClr val="accent1"/>
                </a:solidFill>
              </a:rPr>
              <a:t>46.6 t</a:t>
            </a:r>
            <a:endParaRPr lang="en-US" sz="2800" dirty="0"/>
          </a:p>
        </p:txBody>
      </p:sp>
      <p:sp>
        <p:nvSpPr>
          <p:cNvPr id="7" name="CO₂e never released"/>
          <p:cNvSpPr txBox="1"/>
          <p:nvPr/>
        </p:nvSpPr>
        <p:spPr>
          <a:xfrm>
            <a:off x="960120" y="4572000"/>
            <a:ext cx="2087118" cy="822960"/>
          </a:xfrm>
          <a:prstGeom prst="rect">
            <a:avLst/>
          </a:prstGeom>
          <a:noFill/>
          <a:ln/>
        </p:spPr>
        <p:txBody>
          <a:bodyPr wrap="square" lIns="0" tIns="0" rIns="0" bIns="0" rtlCol="0" anchor="t"/>
          <a:lstStyle/>
          <a:p>
            <a:pPr indent="0" marL="0">
              <a:buNone/>
            </a:pPr>
            <a:r>
              <a:rPr lang="en-US" sz="1400" dirty="0">
                <a:solidFill>
                  <a:schemeClr val="tx1"/>
                </a:solidFill>
              </a:rPr>
              <a:t>CO₂e never released</a:t>
            </a:r>
            <a:endParaRPr lang="en-US" sz="1400" dirty="0"/>
          </a:p>
        </p:txBody>
      </p:sp>
      <p:sp>
        <p:nvSpPr>
          <p:cNvPr id="8" name="SDP's gain, after an RM80,000 running cost card"/>
          <p:cNvSpPr/>
          <p:nvPr/>
        </p:nvSpPr>
        <p:spPr>
          <a:xfrm>
            <a:off x="3504438" y="3749040"/>
            <a:ext cx="2452878" cy="1783080"/>
          </a:xfrm>
          <a:prstGeom prst="roundRect">
            <a:avLst>
              <a:gd name="adj" fmla="val 6154"/>
            </a:avLst>
          </a:prstGeom>
          <a:solidFill>
            <a:schemeClr val="bg2"/>
          </a:solidFill>
          <a:ln w="12700">
            <a:solidFill>
              <a:schemeClr val="bg2"/>
            </a:solidFill>
            <a:prstDash val="solid"/>
          </a:ln>
        </p:spPr>
      </p:sp>
      <p:sp>
        <p:nvSpPr>
          <p:cNvPr id="9" name="RM148,199"/>
          <p:cNvSpPr txBox="1"/>
          <p:nvPr/>
        </p:nvSpPr>
        <p:spPr>
          <a:xfrm>
            <a:off x="3687318" y="3931920"/>
            <a:ext cx="2087118" cy="594360"/>
          </a:xfrm>
          <a:prstGeom prst="rect">
            <a:avLst/>
          </a:prstGeom>
          <a:noFill/>
          <a:ln/>
        </p:spPr>
        <p:txBody>
          <a:bodyPr wrap="square" lIns="0" tIns="0" rIns="0" bIns="0" rtlCol="0" anchor="t"/>
          <a:lstStyle/>
          <a:p>
            <a:pPr indent="0" marL="0">
              <a:buNone/>
            </a:pPr>
            <a:r>
              <a:rPr lang="en-US" sz="2800" b="1" dirty="0">
                <a:solidFill>
                  <a:schemeClr val="accent1"/>
                </a:solidFill>
              </a:rPr>
              <a:t>RM148,199</a:t>
            </a:r>
            <a:endParaRPr lang="en-US" sz="2800" dirty="0"/>
          </a:p>
        </p:txBody>
      </p:sp>
      <p:sp>
        <p:nvSpPr>
          <p:cNvPr id="10" name="SDP&amp;apos;s gain, after an RM80,000 running cost"/>
          <p:cNvSpPr txBox="1"/>
          <p:nvPr/>
        </p:nvSpPr>
        <p:spPr>
          <a:xfrm>
            <a:off x="3687318" y="4572000"/>
            <a:ext cx="2087118" cy="822960"/>
          </a:xfrm>
          <a:prstGeom prst="rect">
            <a:avLst/>
          </a:prstGeom>
          <a:noFill/>
          <a:ln/>
        </p:spPr>
        <p:txBody>
          <a:bodyPr wrap="square" lIns="0" tIns="0" rIns="0" bIns="0" rtlCol="0" anchor="t"/>
          <a:lstStyle/>
          <a:p>
            <a:pPr indent="0" marL="0">
              <a:buNone/>
            </a:pPr>
            <a:r>
              <a:rPr lang="en-US" sz="1400" dirty="0">
                <a:solidFill>
                  <a:schemeClr val="tx1"/>
                </a:solidFill>
              </a:rPr>
              <a:t>SDP's gain, after an RM80,000 running cost</a:t>
            </a:r>
            <a:endParaRPr lang="en-US" sz="1400" dirty="0"/>
          </a:p>
        </p:txBody>
      </p:sp>
      <p:sp>
        <p:nvSpPr>
          <p:cNvPr id="11" name="Buyers keep: credits plus rip-out costs they skip card"/>
          <p:cNvSpPr/>
          <p:nvPr/>
        </p:nvSpPr>
        <p:spPr>
          <a:xfrm>
            <a:off x="6231636" y="3749040"/>
            <a:ext cx="2452878" cy="1783080"/>
          </a:xfrm>
          <a:prstGeom prst="roundRect">
            <a:avLst>
              <a:gd name="adj" fmla="val 6154"/>
            </a:avLst>
          </a:prstGeom>
          <a:solidFill>
            <a:schemeClr val="bg2"/>
          </a:solidFill>
          <a:ln w="12700">
            <a:solidFill>
              <a:schemeClr val="bg2"/>
            </a:solidFill>
            <a:prstDash val="solid"/>
          </a:ln>
        </p:spPr>
      </p:sp>
      <p:sp>
        <p:nvSpPr>
          <p:cNvPr id="12" name="RM411,590"/>
          <p:cNvSpPr txBox="1"/>
          <p:nvPr/>
        </p:nvSpPr>
        <p:spPr>
          <a:xfrm>
            <a:off x="6414516" y="3931920"/>
            <a:ext cx="2087118" cy="594360"/>
          </a:xfrm>
          <a:prstGeom prst="rect">
            <a:avLst/>
          </a:prstGeom>
          <a:noFill/>
          <a:ln/>
        </p:spPr>
        <p:txBody>
          <a:bodyPr wrap="square" lIns="0" tIns="0" rIns="0" bIns="0" rtlCol="0" anchor="t"/>
          <a:lstStyle/>
          <a:p>
            <a:pPr indent="0" marL="0">
              <a:buNone/>
            </a:pPr>
            <a:r>
              <a:rPr lang="en-US" sz="2800" b="1" dirty="0">
                <a:solidFill>
                  <a:schemeClr val="accent1"/>
                </a:solidFill>
              </a:rPr>
              <a:t>RM411,590</a:t>
            </a:r>
            <a:endParaRPr lang="en-US" sz="2800" dirty="0"/>
          </a:p>
        </p:txBody>
      </p:sp>
      <p:sp>
        <p:nvSpPr>
          <p:cNvPr id="13" name="Buyers keep: credits plus rip-out costs they skip"/>
          <p:cNvSpPr txBox="1"/>
          <p:nvPr/>
        </p:nvSpPr>
        <p:spPr>
          <a:xfrm>
            <a:off x="6414516" y="4572000"/>
            <a:ext cx="2087118" cy="822960"/>
          </a:xfrm>
          <a:prstGeom prst="rect">
            <a:avLst/>
          </a:prstGeom>
          <a:noFill/>
          <a:ln/>
        </p:spPr>
        <p:txBody>
          <a:bodyPr wrap="square" lIns="0" tIns="0" rIns="0" bIns="0" rtlCol="0" anchor="t"/>
          <a:lstStyle/>
          <a:p>
            <a:pPr indent="0" marL="0">
              <a:buNone/>
            </a:pPr>
            <a:r>
              <a:rPr lang="en-US" sz="1400" dirty="0">
                <a:solidFill>
                  <a:schemeClr val="tx1"/>
                </a:solidFill>
              </a:rPr>
              <a:t>Buyers keep: credits plus rip-out costs they skip</a:t>
            </a:r>
            <a:endParaRPr lang="en-US" sz="1400" dirty="0"/>
          </a:p>
        </p:txBody>
      </p:sp>
      <p:sp>
        <p:nvSpPr>
          <p:cNvPr id="14" name="Until it pays for itself card"/>
          <p:cNvSpPr/>
          <p:nvPr/>
        </p:nvSpPr>
        <p:spPr>
          <a:xfrm>
            <a:off x="8958834" y="3749040"/>
            <a:ext cx="2452878" cy="1783080"/>
          </a:xfrm>
          <a:prstGeom prst="roundRect">
            <a:avLst>
              <a:gd name="adj" fmla="val 6154"/>
            </a:avLst>
          </a:prstGeom>
          <a:solidFill>
            <a:schemeClr val="bg2"/>
          </a:solidFill>
          <a:ln w="12700">
            <a:solidFill>
              <a:schemeClr val="bg2"/>
            </a:solidFill>
            <a:prstDash val="solid"/>
          </a:ln>
        </p:spPr>
      </p:sp>
      <p:sp>
        <p:nvSpPr>
          <p:cNvPr id="15" name="36 homes"/>
          <p:cNvSpPr txBox="1"/>
          <p:nvPr/>
        </p:nvSpPr>
        <p:spPr>
          <a:xfrm>
            <a:off x="9141714" y="3931920"/>
            <a:ext cx="2087118" cy="594360"/>
          </a:xfrm>
          <a:prstGeom prst="rect">
            <a:avLst/>
          </a:prstGeom>
          <a:noFill/>
          <a:ln/>
        </p:spPr>
        <p:txBody>
          <a:bodyPr wrap="square" lIns="0" tIns="0" rIns="0" bIns="0" rtlCol="0" anchor="t"/>
          <a:lstStyle/>
          <a:p>
            <a:pPr indent="0" marL="0">
              <a:buNone/>
            </a:pPr>
            <a:r>
              <a:rPr lang="en-US" sz="2800" b="1" dirty="0">
                <a:solidFill>
                  <a:schemeClr val="accent1"/>
                </a:solidFill>
              </a:rPr>
              <a:t>36 homes</a:t>
            </a:r>
            <a:endParaRPr lang="en-US" sz="2800" dirty="0"/>
          </a:p>
        </p:txBody>
      </p:sp>
      <p:sp>
        <p:nvSpPr>
          <p:cNvPr id="16" name="Until it pays for itself"/>
          <p:cNvSpPr txBox="1"/>
          <p:nvPr/>
        </p:nvSpPr>
        <p:spPr>
          <a:xfrm>
            <a:off x="9141714" y="4572000"/>
            <a:ext cx="2087118" cy="822960"/>
          </a:xfrm>
          <a:prstGeom prst="rect">
            <a:avLst/>
          </a:prstGeom>
          <a:noFill/>
          <a:ln/>
        </p:spPr>
        <p:txBody>
          <a:bodyPr wrap="square" lIns="0" tIns="0" rIns="0" bIns="0" rtlCol="0" anchor="t"/>
          <a:lstStyle/>
          <a:p>
            <a:pPr indent="0" marL="0">
              <a:buNone/>
            </a:pPr>
            <a:r>
              <a:rPr lang="en-US" sz="1400" dirty="0">
                <a:solidFill>
                  <a:schemeClr val="tx1"/>
                </a:solidFill>
              </a:rPr>
              <a:t>Until it pays for itself</a:t>
            </a:r>
            <a:endParaRPr lang="en-US" sz="1400" dirty="0"/>
          </a:p>
        </p:txBody>
      </p:sp>
      <p:sp>
        <p:nvSpPr>
          <p:cNvPr id="17" name="Assumptions"/>
          <p:cNvSpPr txBox="1"/>
          <p:nvPr/>
        </p:nvSpPr>
        <p:spPr>
          <a:xfrm>
            <a:off x="777240" y="5669280"/>
            <a:ext cx="10634472" cy="594360"/>
          </a:xfrm>
          <a:prstGeom prst="rect">
            <a:avLst/>
          </a:prstGeom>
          <a:noFill/>
          <a:ln/>
        </p:spPr>
        <p:txBody>
          <a:bodyPr wrap="square" lIns="0" tIns="0" rIns="0" bIns="0" rtlCol="0" anchor="t"/>
          <a:lstStyle/>
          <a:p>
            <a:pPr indent="0" marL="0">
              <a:buNone/>
            </a:pPr>
            <a:r>
              <a:rPr lang="en-US" sz="1100" dirty="0">
                <a:solidFill>
                  <a:schemeClr val="tx2"/>
                </a:solidFill>
              </a:rPr>
              <a:t>100 terraces at the What-if page's defaults: buyers choose for 80% of would-be rip-outs, 40% of them upgrade, and Neighbour Match rehomes half of the rest (a pilot target; the demo data rehomes 3% so far). Simulated rip-out rates, public fitting figures; working in appendix B.</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7. Feasibility</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It fits SDP's current sales and renovation process, with no new equipment</a:t>
            </a:r>
            <a:endParaRPr lang="en-US" sz="1800" dirty="0"/>
          </a:p>
        </p:txBody>
      </p:sp>
      <p:sp>
        <p:nvSpPr>
          <p:cNvPr id="4" name="Resources card"/>
          <p:cNvSpPr/>
          <p:nvPr/>
        </p:nvSpPr>
        <p:spPr>
          <a:xfrm>
            <a:off x="777240" y="1965960"/>
            <a:ext cx="3361944" cy="3200400"/>
          </a:xfrm>
          <a:prstGeom prst="roundRect">
            <a:avLst>
              <a:gd name="adj" fmla="val 3429"/>
            </a:avLst>
          </a:prstGeom>
          <a:solidFill>
            <a:schemeClr val="bg2"/>
          </a:solidFill>
          <a:ln w="12700">
            <a:solidFill>
              <a:schemeClr val="bg2"/>
            </a:solidFill>
            <a:prstDash val="solid"/>
          </a:ln>
        </p:spPr>
      </p:sp>
      <p:sp>
        <p:nvSpPr>
          <p:cNvPr id="5" name="Resources circle"/>
          <p:cNvSpPr/>
          <p:nvPr/>
        </p:nvSpPr>
        <p:spPr>
          <a:xfrm>
            <a:off x="1005840" y="2194560"/>
            <a:ext cx="594360" cy="594360"/>
          </a:xfrm>
          <a:prstGeom prst="ellipse">
            <a:avLst/>
          </a:prstGeom>
          <a:solidFill>
            <a:schemeClr val="accent1"/>
          </a:solidFill>
          <a:ln w="12700">
            <a:solidFill>
              <a:schemeClr val="accent1"/>
            </a:solidFill>
            <a:prstDash val="solid"/>
          </a:ln>
        </p:spPr>
      </p:sp>
      <p:pic>
        <p:nvPicPr>
          <p:cNvPr id="6" name="Resources" descr="Resources">    </p:cNvPr>
          <p:cNvPicPr>
            <a:picLocks noChangeAspect="1"/>
          </p:cNvPicPr>
          <p:nvPr/>
        </p:nvPicPr>
        <p:blipFill>
          <a:blip r:embed="rId1"/>
          <a:stretch>
            <a:fillRect/>
          </a:stretch>
        </p:blipFill>
        <p:spPr>
          <a:xfrm>
            <a:off x="1166317" y="2355037"/>
            <a:ext cx="273406" cy="273406"/>
          </a:xfrm>
          <a:prstGeom prst="rect">
            <a:avLst/>
          </a:prstGeom>
        </p:spPr>
      </p:pic>
      <p:sp>
        <p:nvSpPr>
          <p:cNvPr id="7" name="Resources"/>
          <p:cNvSpPr txBox="1"/>
          <p:nvPr/>
        </p:nvSpPr>
        <p:spPr>
          <a:xfrm>
            <a:off x="1737360" y="2194560"/>
            <a:ext cx="2173224" cy="594360"/>
          </a:xfrm>
          <a:prstGeom prst="rect">
            <a:avLst/>
          </a:prstGeom>
          <a:noFill/>
          <a:ln/>
        </p:spPr>
        <p:txBody>
          <a:bodyPr wrap="square" lIns="0" tIns="0" rIns="0" bIns="0" rtlCol="0" anchor="ctr"/>
          <a:lstStyle/>
          <a:p>
            <a:pPr indent="0" marL="0">
              <a:buNone/>
            </a:pPr>
            <a:r>
              <a:rPr lang="en-US" sz="1800" b="1" dirty="0">
                <a:solidFill>
                  <a:schemeClr val="tx1"/>
                </a:solidFill>
              </a:rPr>
              <a:t>Resources</a:t>
            </a:r>
            <a:endParaRPr lang="en-US" sz="1800" dirty="0"/>
          </a:p>
        </p:txBody>
      </p:sp>
      <p:sp>
        <p:nvSpPr>
          <p:cNvPr id="8" name="Resources list"/>
          <p:cNvSpPr txBox="1"/>
          <p:nvPr/>
        </p:nvSpPr>
        <p:spPr>
          <a:xfrm>
            <a:off x="1005840" y="2926080"/>
            <a:ext cx="2950464" cy="21488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Working prototype: web app, database and 500+ automated checks</a:t>
            </a:r>
            <a:endParaRPr lang="en-US" sz="1300" dirty="0"/>
          </a:p>
          <a:p>
            <a:pPr marL="177800" indent="-177800">
              <a:spcAft>
                <a:spcPts val="500"/>
              </a:spcAft>
              <a:buSzPct val="100000"/>
              <a:buChar char="•"/>
            </a:pPr>
            <a:r>
              <a:rPr lang="en-US" sz="1300" dirty="0">
                <a:solidFill>
                  <a:schemeClr val="tx1"/>
                </a:solidFill>
              </a:rPr>
              <a:t>Data SDP already gets: renovation applications and buyers' choices at booking</a:t>
            </a:r>
            <a:endParaRPr lang="en-US" sz="1300" dirty="0"/>
          </a:p>
          <a:p>
            <a:pPr marL="177800" indent="-177800">
              <a:spcAft>
                <a:spcPts val="500"/>
              </a:spcAft>
              <a:buSzPct val="100000"/>
              <a:buChar char="•"/>
            </a:pPr>
            <a:r>
              <a:rPr lang="en-US" sz="1300" dirty="0">
                <a:solidFill>
                  <a:schemeClr val="tx1"/>
                </a:solidFill>
              </a:rPr>
              <a:t>Public carbon and price data (ICE database, Malaysian price guides)</a:t>
            </a:r>
            <a:endParaRPr lang="en-US" sz="1300" dirty="0"/>
          </a:p>
        </p:txBody>
      </p:sp>
      <p:sp>
        <p:nvSpPr>
          <p:cNvPr id="9" name="Stakeholders card"/>
          <p:cNvSpPr/>
          <p:nvPr/>
        </p:nvSpPr>
        <p:spPr>
          <a:xfrm>
            <a:off x="4413504" y="1965960"/>
            <a:ext cx="3361944" cy="3200400"/>
          </a:xfrm>
          <a:prstGeom prst="roundRect">
            <a:avLst>
              <a:gd name="adj" fmla="val 3429"/>
            </a:avLst>
          </a:prstGeom>
          <a:solidFill>
            <a:schemeClr val="bg2"/>
          </a:solidFill>
          <a:ln w="12700">
            <a:solidFill>
              <a:schemeClr val="bg2"/>
            </a:solidFill>
            <a:prstDash val="solid"/>
          </a:ln>
        </p:spPr>
      </p:sp>
      <p:sp>
        <p:nvSpPr>
          <p:cNvPr id="10" name="Stakeholders circle"/>
          <p:cNvSpPr/>
          <p:nvPr/>
        </p:nvSpPr>
        <p:spPr>
          <a:xfrm>
            <a:off x="4642104" y="2194560"/>
            <a:ext cx="594360" cy="594360"/>
          </a:xfrm>
          <a:prstGeom prst="ellipse">
            <a:avLst/>
          </a:prstGeom>
          <a:solidFill>
            <a:schemeClr val="accent1"/>
          </a:solidFill>
          <a:ln w="12700">
            <a:solidFill>
              <a:schemeClr val="accent1"/>
            </a:solidFill>
            <a:prstDash val="solid"/>
          </a:ln>
        </p:spPr>
      </p:sp>
      <p:pic>
        <p:nvPicPr>
          <p:cNvPr id="11" name="Stakeholders" descr="Stakeholders">    </p:cNvPr>
          <p:cNvPicPr>
            <a:picLocks noChangeAspect="1"/>
          </p:cNvPicPr>
          <p:nvPr/>
        </p:nvPicPr>
        <p:blipFill>
          <a:blip r:embed="rId2"/>
          <a:stretch>
            <a:fillRect/>
          </a:stretch>
        </p:blipFill>
        <p:spPr>
          <a:xfrm>
            <a:off x="4802581" y="2355037"/>
            <a:ext cx="273406" cy="273406"/>
          </a:xfrm>
          <a:prstGeom prst="rect">
            <a:avLst/>
          </a:prstGeom>
        </p:spPr>
      </p:pic>
      <p:sp>
        <p:nvSpPr>
          <p:cNvPr id="12" name="Stakeholders"/>
          <p:cNvSpPr txBox="1"/>
          <p:nvPr/>
        </p:nvSpPr>
        <p:spPr>
          <a:xfrm>
            <a:off x="5373624" y="2194560"/>
            <a:ext cx="2173224" cy="594360"/>
          </a:xfrm>
          <a:prstGeom prst="rect">
            <a:avLst/>
          </a:prstGeom>
          <a:noFill/>
          <a:ln/>
        </p:spPr>
        <p:txBody>
          <a:bodyPr wrap="square" lIns="0" tIns="0" rIns="0" bIns="0" rtlCol="0" anchor="ctr"/>
          <a:lstStyle/>
          <a:p>
            <a:pPr indent="0" marL="0">
              <a:buNone/>
            </a:pPr>
            <a:r>
              <a:rPr lang="en-US" sz="1800" b="1" dirty="0">
                <a:solidFill>
                  <a:schemeClr val="tx1"/>
                </a:solidFill>
              </a:rPr>
              <a:t>Stakeholders</a:t>
            </a:r>
            <a:endParaRPr lang="en-US" sz="1800" dirty="0"/>
          </a:p>
        </p:txBody>
      </p:sp>
      <p:sp>
        <p:nvSpPr>
          <p:cNvPr id="13" name="Stakeholders list"/>
          <p:cNvSpPr txBox="1"/>
          <p:nvPr/>
        </p:nvSpPr>
        <p:spPr>
          <a:xfrm>
            <a:off x="4642104" y="2926080"/>
            <a:ext cx="2950464" cy="21488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Sales offers the choice at booking</a:t>
            </a:r>
            <a:endParaRPr lang="en-US" sz="1300" dirty="0"/>
          </a:p>
          <a:p>
            <a:pPr marL="177800" indent="-177800">
              <a:spcAft>
                <a:spcPts val="500"/>
              </a:spcAft>
              <a:buSzPct val="100000"/>
              <a:buChar char="•"/>
            </a:pPr>
            <a:r>
              <a:rPr lang="en-US" sz="1300" dirty="0">
                <a:solidFill>
                  <a:schemeClr val="tx1"/>
                </a:solidFill>
              </a:rPr>
              <a:t>Product design drops low-value fittings next launch</a:t>
            </a:r>
            <a:endParaRPr lang="en-US" sz="1300" dirty="0"/>
          </a:p>
          <a:p>
            <a:pPr marL="177800" indent="-177800">
              <a:spcAft>
                <a:spcPts val="500"/>
              </a:spcAft>
              <a:buSzPct val="100000"/>
              <a:buChar char="•"/>
            </a:pPr>
            <a:r>
              <a:rPr lang="en-US" sz="1300" dirty="0">
                <a:solidFill>
                  <a:schemeClr val="tx1"/>
                </a:solidFill>
              </a:rPr>
              <a:t>Sustainability reports waste and carbon avoided</a:t>
            </a:r>
            <a:endParaRPr lang="en-US" sz="1300" dirty="0"/>
          </a:p>
          <a:p>
            <a:pPr marL="177800" indent="-177800">
              <a:spcAft>
                <a:spcPts val="500"/>
              </a:spcAft>
              <a:buSzPct val="100000"/>
              <a:buChar char="•"/>
            </a:pPr>
            <a:r>
              <a:rPr lang="en-US" sz="1300" dirty="0">
                <a:solidFill>
                  <a:schemeClr val="tx1"/>
                </a:solidFill>
              </a:rPr>
              <a:t>Legal confirms what the CCC and sales contract allow</a:t>
            </a:r>
            <a:endParaRPr lang="en-US" sz="1300" dirty="0"/>
          </a:p>
        </p:txBody>
      </p:sp>
      <p:sp>
        <p:nvSpPr>
          <p:cNvPr id="14" name="Deployment card"/>
          <p:cNvSpPr/>
          <p:nvPr/>
        </p:nvSpPr>
        <p:spPr>
          <a:xfrm>
            <a:off x="8049768" y="1965960"/>
            <a:ext cx="3361944" cy="3200400"/>
          </a:xfrm>
          <a:prstGeom prst="roundRect">
            <a:avLst>
              <a:gd name="adj" fmla="val 3429"/>
            </a:avLst>
          </a:prstGeom>
          <a:solidFill>
            <a:schemeClr val="bg2"/>
          </a:solidFill>
          <a:ln w="12700">
            <a:solidFill>
              <a:schemeClr val="bg2"/>
            </a:solidFill>
            <a:prstDash val="solid"/>
          </a:ln>
        </p:spPr>
      </p:sp>
      <p:sp>
        <p:nvSpPr>
          <p:cNvPr id="15" name="Deployment circle"/>
          <p:cNvSpPr/>
          <p:nvPr/>
        </p:nvSpPr>
        <p:spPr>
          <a:xfrm>
            <a:off x="8278368" y="2194560"/>
            <a:ext cx="594360" cy="594360"/>
          </a:xfrm>
          <a:prstGeom prst="ellipse">
            <a:avLst/>
          </a:prstGeom>
          <a:solidFill>
            <a:schemeClr val="accent1"/>
          </a:solidFill>
          <a:ln w="12700">
            <a:solidFill>
              <a:schemeClr val="accent1"/>
            </a:solidFill>
            <a:prstDash val="solid"/>
          </a:ln>
        </p:spPr>
      </p:sp>
      <p:pic>
        <p:nvPicPr>
          <p:cNvPr id="16" name="Deployment" descr="Deployment">    </p:cNvPr>
          <p:cNvPicPr>
            <a:picLocks noChangeAspect="1"/>
          </p:cNvPicPr>
          <p:nvPr/>
        </p:nvPicPr>
        <p:blipFill>
          <a:blip r:embed="rId3"/>
          <a:stretch>
            <a:fillRect/>
          </a:stretch>
        </p:blipFill>
        <p:spPr>
          <a:xfrm>
            <a:off x="8438845" y="2355037"/>
            <a:ext cx="273406" cy="273406"/>
          </a:xfrm>
          <a:prstGeom prst="rect">
            <a:avLst/>
          </a:prstGeom>
        </p:spPr>
      </p:pic>
      <p:sp>
        <p:nvSpPr>
          <p:cNvPr id="17" name="Deployment"/>
          <p:cNvSpPr txBox="1"/>
          <p:nvPr/>
        </p:nvSpPr>
        <p:spPr>
          <a:xfrm>
            <a:off x="9009888" y="2194560"/>
            <a:ext cx="2173224" cy="594360"/>
          </a:xfrm>
          <a:prstGeom prst="rect">
            <a:avLst/>
          </a:prstGeom>
          <a:noFill/>
          <a:ln/>
        </p:spPr>
        <p:txBody>
          <a:bodyPr wrap="square" lIns="0" tIns="0" rIns="0" bIns="0" rtlCol="0" anchor="ctr"/>
          <a:lstStyle/>
          <a:p>
            <a:pPr indent="0" marL="0">
              <a:buNone/>
            </a:pPr>
            <a:r>
              <a:rPr lang="en-US" sz="1800" b="1" dirty="0">
                <a:solidFill>
                  <a:schemeClr val="tx1"/>
                </a:solidFill>
              </a:rPr>
              <a:t>Deployment</a:t>
            </a:r>
            <a:endParaRPr lang="en-US" sz="1800" dirty="0"/>
          </a:p>
        </p:txBody>
      </p:sp>
      <p:sp>
        <p:nvSpPr>
          <p:cNvPr id="18" name="Deployment list"/>
          <p:cNvSpPr txBox="1"/>
          <p:nvPr/>
        </p:nvSpPr>
        <p:spPr>
          <a:xfrm>
            <a:off x="8278368" y="2926080"/>
            <a:ext cx="2950464" cy="21488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A web app on SDP's network</a:t>
            </a:r>
            <a:endParaRPr lang="en-US" sz="1300" dirty="0"/>
          </a:p>
          <a:p>
            <a:pPr marL="177800" indent="-177800">
              <a:spcAft>
                <a:spcPts val="500"/>
              </a:spcAft>
              <a:buSzPct val="100000"/>
              <a:buChar char="•"/>
            </a:pPr>
            <a:r>
              <a:rPr lang="en-US" sz="1300" dirty="0">
                <a:solidFill>
                  <a:schemeClr val="tx1"/>
                </a:solidFill>
              </a:rPr>
              <a:t>SDP's login replaces the demo sign-in</a:t>
            </a:r>
            <a:endParaRPr lang="en-US" sz="1300" dirty="0"/>
          </a:p>
          <a:p>
            <a:pPr marL="177800" indent="-177800">
              <a:spcAft>
                <a:spcPts val="500"/>
              </a:spcAft>
              <a:buSzPct val="100000"/>
              <a:buChar char="•"/>
            </a:pPr>
            <a:r>
              <a:rPr lang="en-US" sz="1300" dirty="0">
                <a:solidFill>
                  <a:schemeClr val="tx1"/>
                </a:solidFill>
              </a:rPr>
              <a:t>A server database replaces SQLite: one file changes</a:t>
            </a:r>
            <a:endParaRPr lang="en-US" sz="1300" dirty="0"/>
          </a:p>
          <a:p>
            <a:pPr marL="177800" indent="-177800">
              <a:spcAft>
                <a:spcPts val="500"/>
              </a:spcAft>
              <a:buSzPct val="100000"/>
              <a:buChar char="•"/>
            </a:pPr>
            <a:r>
              <a:rPr lang="en-US" sz="1300" dirty="0">
                <a:solidFill>
                  <a:schemeClr val="tx1"/>
                </a:solidFill>
              </a:rPr>
              <a:t>AI tagging on SDP's own API key, rules as backup</a:t>
            </a:r>
            <a:endParaRPr lang="en-US" sz="1300" dirty="0"/>
          </a:p>
        </p:txBody>
      </p:sp>
      <p:sp>
        <p:nvSpPr>
          <p:cNvPr id="19" name="To confirm box"/>
          <p:cNvSpPr/>
          <p:nvPr/>
        </p:nvSpPr>
        <p:spPr>
          <a:xfrm>
            <a:off x="777240" y="5394960"/>
            <a:ext cx="10634472" cy="914400"/>
          </a:xfrm>
          <a:prstGeom prst="roundRect">
            <a:avLst>
              <a:gd name="adj" fmla="val 12000"/>
            </a:avLst>
          </a:prstGeom>
          <a:solidFill>
            <a:schemeClr val="accent6"/>
          </a:solidFill>
          <a:ln w="12700">
            <a:solidFill>
              <a:schemeClr val="accent6"/>
            </a:solidFill>
            <a:prstDash val="solid"/>
          </a:ln>
        </p:spPr>
      </p:sp>
      <p:sp>
        <p:nvSpPr>
          <p:cNvPr id="20" name="To confirm"/>
          <p:cNvSpPr txBox="1"/>
          <p:nvPr/>
        </p:nvSpPr>
        <p:spPr>
          <a:xfrm>
            <a:off x="1051560" y="5468112"/>
            <a:ext cx="10085832" cy="777240"/>
          </a:xfrm>
          <a:prstGeom prst="rect">
            <a:avLst/>
          </a:prstGeom>
          <a:noFill/>
          <a:ln/>
        </p:spPr>
        <p:txBody>
          <a:bodyPr wrap="square" lIns="0" tIns="0" rIns="0" bIns="0" rtlCol="0" anchor="ctr"/>
          <a:lstStyle/>
          <a:p>
            <a:pPr indent="0" marL="0">
              <a:buNone/>
            </a:pPr>
            <a:r>
              <a:rPr lang="en-US" sz="1300" b="1" dirty="0">
                <a:solidFill>
                  <a:schemeClr val="accent1"/>
                </a:solidFill>
              </a:rPr>
              <a:t>To confirm with SDP before a pilot: </a:t>
            </a:r>
            <a:pPr indent="0" marL="0">
              <a:buNone/>
            </a:pPr>
            <a:r>
              <a:rPr lang="en-US" sz="1300" dirty="0">
                <a:solidFill>
                  <a:schemeClr val="tx1"/>
                </a:solidFill>
              </a:rPr>
              <a:t>kitchen sink and tap, bathroom wall tiles, doors and window frames, and bedroom floor finishes. Each is tied to the CCC, the sales contract or the bank's valuation, so the app keeps them out of buyers' choices for now.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8. Implementation</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Start with one launch of one house design (about 100 homes), then scale</a:t>
            </a:r>
            <a:endParaRPr lang="en-US" sz="1800" dirty="0"/>
          </a:p>
        </p:txBody>
      </p:sp>
      <p:sp>
        <p:nvSpPr>
          <p:cNvPr id="4" name="Timeline"/>
          <p:cNvSpPr/>
          <p:nvPr/>
        </p:nvSpPr>
        <p:spPr>
          <a:xfrm>
            <a:off x="1783080" y="2971800"/>
            <a:ext cx="8631936" cy="0"/>
          </a:xfrm>
          <a:prstGeom prst="line">
            <a:avLst/>
          </a:prstGeom>
          <a:noFill/>
          <a:ln w="25400">
            <a:solidFill>
              <a:srgbClr val="D0D0D0"/>
            </a:solidFill>
            <a:prstDash val="solid"/>
          </a:ln>
        </p:spPr>
      </p:sp>
      <p:sp>
        <p:nvSpPr>
          <p:cNvPr id="5" name="Confirm timing"/>
          <p:cNvSpPr txBox="1"/>
          <p:nvPr/>
        </p:nvSpPr>
        <p:spPr>
          <a:xfrm>
            <a:off x="777240" y="2240280"/>
            <a:ext cx="2011680" cy="365760"/>
          </a:xfrm>
          <a:prstGeom prst="rect">
            <a:avLst/>
          </a:prstGeom>
          <a:noFill/>
          <a:ln/>
        </p:spPr>
        <p:txBody>
          <a:bodyPr wrap="square" lIns="0" tIns="0" rIns="0" bIns="0" rtlCol="0" anchor="t"/>
          <a:lstStyle/>
          <a:p>
            <a:pPr algn="ctr" indent="0" marL="0">
              <a:buNone/>
            </a:pPr>
            <a:r>
              <a:rPr lang="en-US" sz="1300" b="1" dirty="0">
                <a:solidFill>
                  <a:schemeClr val="accent1"/>
                </a:solidFill>
              </a:rPr>
              <a:t>Month 1</a:t>
            </a:r>
            <a:endParaRPr lang="en-US" sz="1300" dirty="0"/>
          </a:p>
        </p:txBody>
      </p:sp>
      <p:sp>
        <p:nvSpPr>
          <p:cNvPr id="6" name="Step 1 circle"/>
          <p:cNvSpPr/>
          <p:nvPr/>
        </p:nvSpPr>
        <p:spPr>
          <a:xfrm>
            <a:off x="1508760" y="2697480"/>
            <a:ext cx="548640" cy="548640"/>
          </a:xfrm>
          <a:prstGeom prst="ellipse">
            <a:avLst/>
          </a:prstGeom>
          <a:solidFill>
            <a:schemeClr val="accent1"/>
          </a:solidFill>
          <a:ln w="12700">
            <a:solidFill>
              <a:schemeClr val="accent1"/>
            </a:solidFill>
            <a:prstDash val="solid"/>
          </a:ln>
        </p:spPr>
      </p:sp>
      <p:sp>
        <p:nvSpPr>
          <p:cNvPr id="7" name="Step 1 number"/>
          <p:cNvSpPr txBox="1"/>
          <p:nvPr/>
        </p:nvSpPr>
        <p:spPr>
          <a:xfrm>
            <a:off x="1508760" y="26974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Confirm"/>
          <p:cNvSpPr txBox="1"/>
          <p:nvPr/>
        </p:nvSpPr>
        <p:spPr>
          <a:xfrm>
            <a:off x="777240" y="3429000"/>
            <a:ext cx="2011680" cy="411480"/>
          </a:xfrm>
          <a:prstGeom prst="rect">
            <a:avLst/>
          </a:prstGeom>
          <a:noFill/>
          <a:ln/>
        </p:spPr>
        <p:txBody>
          <a:bodyPr wrap="square" lIns="0" tIns="0" rIns="0" bIns="0" rtlCol="0" anchor="t"/>
          <a:lstStyle/>
          <a:p>
            <a:pPr algn="ctr" indent="0" marL="0">
              <a:buNone/>
            </a:pPr>
            <a:r>
              <a:rPr lang="en-US" sz="1700" b="1" dirty="0">
                <a:solidFill>
                  <a:schemeClr val="tx1"/>
                </a:solidFill>
              </a:rPr>
              <a:t>Confirm</a:t>
            </a:r>
            <a:endParaRPr lang="en-US" sz="1700" dirty="0"/>
          </a:p>
        </p:txBody>
      </p:sp>
      <p:sp>
        <p:nvSpPr>
          <p:cNvPr id="9" name="Confirm detail"/>
          <p:cNvSpPr txBox="1"/>
          <p:nvPr/>
        </p:nvSpPr>
        <p:spPr>
          <a:xfrm>
            <a:off x="777240" y="3858768"/>
            <a:ext cx="2011680" cy="1143000"/>
          </a:xfrm>
          <a:prstGeom prst="rect">
            <a:avLst/>
          </a:prstGeom>
          <a:noFill/>
          <a:ln/>
        </p:spPr>
        <p:txBody>
          <a:bodyPr wrap="square" lIns="0" tIns="0" rIns="0" bIns="0" rtlCol="0" anchor="t"/>
          <a:lstStyle/>
          <a:p>
            <a:pPr algn="ctr" indent="0" marL="0">
              <a:buNone/>
            </a:pPr>
            <a:r>
              <a:rPr lang="en-US" sz="1250" dirty="0">
                <a:solidFill>
                  <a:schemeClr val="tx2"/>
                </a:solidFill>
              </a:rPr>
              <a:t>Agree which fittings buyers may opt out of, the credit for each, and the launch to pilot.</a:t>
            </a:r>
            <a:endParaRPr lang="en-US" sz="1250" dirty="0"/>
          </a:p>
        </p:txBody>
      </p:sp>
      <p:sp>
        <p:nvSpPr>
          <p:cNvPr id="10" name="Track timing"/>
          <p:cNvSpPr txBox="1"/>
          <p:nvPr/>
        </p:nvSpPr>
        <p:spPr>
          <a:xfrm>
            <a:off x="2935224" y="2240280"/>
            <a:ext cx="2011680" cy="365760"/>
          </a:xfrm>
          <a:prstGeom prst="rect">
            <a:avLst/>
          </a:prstGeom>
          <a:noFill/>
          <a:ln/>
        </p:spPr>
        <p:txBody>
          <a:bodyPr wrap="square" lIns="0" tIns="0" rIns="0" bIns="0" rtlCol="0" anchor="t"/>
          <a:lstStyle/>
          <a:p>
            <a:pPr algn="ctr" indent="0" marL="0">
              <a:buNone/>
            </a:pPr>
            <a:r>
              <a:rPr lang="en-US" sz="1300" b="1" dirty="0">
                <a:solidFill>
                  <a:schemeClr val="accent1"/>
                </a:solidFill>
              </a:rPr>
              <a:t>Month 2</a:t>
            </a:r>
            <a:endParaRPr lang="en-US" sz="1300" dirty="0"/>
          </a:p>
        </p:txBody>
      </p:sp>
      <p:sp>
        <p:nvSpPr>
          <p:cNvPr id="11" name="Step 2 circle"/>
          <p:cNvSpPr/>
          <p:nvPr/>
        </p:nvSpPr>
        <p:spPr>
          <a:xfrm>
            <a:off x="3666744" y="2697480"/>
            <a:ext cx="548640" cy="548640"/>
          </a:xfrm>
          <a:prstGeom prst="ellipse">
            <a:avLst/>
          </a:prstGeom>
          <a:solidFill>
            <a:schemeClr val="accent1"/>
          </a:solidFill>
          <a:ln w="12700">
            <a:solidFill>
              <a:schemeClr val="accent1"/>
            </a:solidFill>
            <a:prstDash val="solid"/>
          </a:ln>
        </p:spPr>
      </p:sp>
      <p:sp>
        <p:nvSpPr>
          <p:cNvPr id="12" name="Step 2 number"/>
          <p:cNvSpPr txBox="1"/>
          <p:nvPr/>
        </p:nvSpPr>
        <p:spPr>
          <a:xfrm>
            <a:off x="3666744" y="26974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rack"/>
          <p:cNvSpPr txBox="1"/>
          <p:nvPr/>
        </p:nvSpPr>
        <p:spPr>
          <a:xfrm>
            <a:off x="2935224" y="3429000"/>
            <a:ext cx="2011680" cy="411480"/>
          </a:xfrm>
          <a:prstGeom prst="rect">
            <a:avLst/>
          </a:prstGeom>
          <a:noFill/>
          <a:ln/>
        </p:spPr>
        <p:txBody>
          <a:bodyPr wrap="square" lIns="0" tIns="0" rIns="0" bIns="0" rtlCol="0" anchor="t"/>
          <a:lstStyle/>
          <a:p>
            <a:pPr algn="ctr" indent="0" marL="0">
              <a:buNone/>
            </a:pPr>
            <a:r>
              <a:rPr lang="en-US" sz="1700" b="1" dirty="0">
                <a:solidFill>
                  <a:schemeClr val="tx1"/>
                </a:solidFill>
              </a:rPr>
              <a:t>Track</a:t>
            </a:r>
            <a:endParaRPr lang="en-US" sz="1700" dirty="0"/>
          </a:p>
        </p:txBody>
      </p:sp>
      <p:sp>
        <p:nvSpPr>
          <p:cNvPr id="14" name="Track detail"/>
          <p:cNvSpPr txBox="1"/>
          <p:nvPr/>
        </p:nvSpPr>
        <p:spPr>
          <a:xfrm>
            <a:off x="2935224" y="3858768"/>
            <a:ext cx="2011680" cy="1143000"/>
          </a:xfrm>
          <a:prstGeom prst="rect">
            <a:avLst/>
          </a:prstGeom>
          <a:noFill/>
          <a:ln/>
        </p:spPr>
        <p:txBody>
          <a:bodyPr wrap="square" lIns="0" tIns="0" rIns="0" bIns="0" rtlCol="0" anchor="t"/>
          <a:lstStyle/>
          <a:p>
            <a:pPr algn="ctr" indent="0" marL="0">
              <a:buNone/>
            </a:pPr>
            <a:r>
              <a:rPr lang="en-US" sz="1250" dirty="0">
                <a:solidFill>
                  <a:schemeClr val="tx2"/>
                </a:solidFill>
              </a:rPr>
              <a:t>Load past renovation applications to build that design's rip-out index.</a:t>
            </a:r>
            <a:endParaRPr lang="en-US" sz="1250" dirty="0"/>
          </a:p>
        </p:txBody>
      </p:sp>
      <p:sp>
        <p:nvSpPr>
          <p:cNvPr id="15" name="Advise timing"/>
          <p:cNvSpPr txBox="1"/>
          <p:nvPr/>
        </p:nvSpPr>
        <p:spPr>
          <a:xfrm>
            <a:off x="5093208" y="2240280"/>
            <a:ext cx="2011680" cy="365760"/>
          </a:xfrm>
          <a:prstGeom prst="rect">
            <a:avLst/>
          </a:prstGeom>
          <a:noFill/>
          <a:ln/>
        </p:spPr>
        <p:txBody>
          <a:bodyPr wrap="square" lIns="0" tIns="0" rIns="0" bIns="0" rtlCol="0" anchor="t"/>
          <a:lstStyle/>
          <a:p>
            <a:pPr algn="ctr" indent="0" marL="0">
              <a:buNone/>
            </a:pPr>
            <a:r>
              <a:rPr lang="en-US" sz="1300" b="1" dirty="0">
                <a:solidFill>
                  <a:schemeClr val="accent1"/>
                </a:solidFill>
              </a:rPr>
              <a:t>At booking</a:t>
            </a:r>
            <a:endParaRPr lang="en-US" sz="1300" dirty="0"/>
          </a:p>
        </p:txBody>
      </p:sp>
      <p:sp>
        <p:nvSpPr>
          <p:cNvPr id="16" name="Step 3 circle"/>
          <p:cNvSpPr/>
          <p:nvPr/>
        </p:nvSpPr>
        <p:spPr>
          <a:xfrm>
            <a:off x="5824728" y="2697480"/>
            <a:ext cx="548640" cy="548640"/>
          </a:xfrm>
          <a:prstGeom prst="ellipse">
            <a:avLst/>
          </a:prstGeom>
          <a:solidFill>
            <a:schemeClr val="accent1"/>
          </a:solidFill>
          <a:ln w="12700">
            <a:solidFill>
              <a:schemeClr val="accent1"/>
            </a:solidFill>
            <a:prstDash val="solid"/>
          </a:ln>
        </p:spPr>
      </p:sp>
      <p:sp>
        <p:nvSpPr>
          <p:cNvPr id="17" name="Step 3 number"/>
          <p:cNvSpPr txBox="1"/>
          <p:nvPr/>
        </p:nvSpPr>
        <p:spPr>
          <a:xfrm>
            <a:off x="5824728" y="26974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Advise"/>
          <p:cNvSpPr txBox="1"/>
          <p:nvPr/>
        </p:nvSpPr>
        <p:spPr>
          <a:xfrm>
            <a:off x="5093208" y="3429000"/>
            <a:ext cx="2011680" cy="411480"/>
          </a:xfrm>
          <a:prstGeom prst="rect">
            <a:avLst/>
          </a:prstGeom>
          <a:noFill/>
          <a:ln/>
        </p:spPr>
        <p:txBody>
          <a:bodyPr wrap="square" lIns="0" tIns="0" rIns="0" bIns="0" rtlCol="0" anchor="t"/>
          <a:lstStyle/>
          <a:p>
            <a:pPr algn="ctr" indent="0" marL="0">
              <a:buNone/>
            </a:pPr>
            <a:r>
              <a:rPr lang="en-US" sz="1700" b="1" dirty="0">
                <a:solidFill>
                  <a:schemeClr val="tx1"/>
                </a:solidFill>
              </a:rPr>
              <a:t>Advise</a:t>
            </a:r>
            <a:endParaRPr lang="en-US" sz="1700" dirty="0"/>
          </a:p>
        </p:txBody>
      </p:sp>
      <p:sp>
        <p:nvSpPr>
          <p:cNvPr id="19" name="Advise detail"/>
          <p:cNvSpPr txBox="1"/>
          <p:nvPr/>
        </p:nvSpPr>
        <p:spPr>
          <a:xfrm>
            <a:off x="5093208" y="3858768"/>
            <a:ext cx="2011680" cy="1143000"/>
          </a:xfrm>
          <a:prstGeom prst="rect">
            <a:avLst/>
          </a:prstGeom>
          <a:noFill/>
          <a:ln/>
        </p:spPr>
        <p:txBody>
          <a:bodyPr wrap="square" lIns="0" tIns="0" rIns="0" bIns="0" rtlCol="0" anchor="t"/>
          <a:lstStyle/>
          <a:p>
            <a:pPr algn="ctr" indent="0" marL="0">
              <a:buNone/>
            </a:pPr>
            <a:r>
              <a:rPr lang="en-US" sz="1250" dirty="0">
                <a:solidFill>
                  <a:schemeClr val="tx2"/>
                </a:solidFill>
              </a:rPr>
              <a:t>Buyers keep, opt out or upgrade each fitting when they book.</a:t>
            </a:r>
            <a:endParaRPr lang="en-US" sz="1250" dirty="0"/>
          </a:p>
        </p:txBody>
      </p:sp>
      <p:sp>
        <p:nvSpPr>
          <p:cNvPr id="20" name="Match timing"/>
          <p:cNvSpPr txBox="1"/>
          <p:nvPr/>
        </p:nvSpPr>
        <p:spPr>
          <a:xfrm>
            <a:off x="7251192" y="2240280"/>
            <a:ext cx="2011680" cy="365760"/>
          </a:xfrm>
          <a:prstGeom prst="rect">
            <a:avLst/>
          </a:prstGeom>
          <a:noFill/>
          <a:ln/>
        </p:spPr>
        <p:txBody>
          <a:bodyPr wrap="square" lIns="0" tIns="0" rIns="0" bIns="0" rtlCol="0" anchor="t"/>
          <a:lstStyle/>
          <a:p>
            <a:pPr algn="ctr" indent="0" marL="0">
              <a:buNone/>
            </a:pPr>
            <a:r>
              <a:rPr lang="en-US" sz="1300" b="1" dirty="0">
                <a:solidFill>
                  <a:schemeClr val="accent1"/>
                </a:solidFill>
              </a:rPr>
              <a:t>After handover</a:t>
            </a:r>
            <a:endParaRPr lang="en-US" sz="1300" dirty="0"/>
          </a:p>
        </p:txBody>
      </p:sp>
      <p:sp>
        <p:nvSpPr>
          <p:cNvPr id="21" name="Step 4 circle"/>
          <p:cNvSpPr/>
          <p:nvPr/>
        </p:nvSpPr>
        <p:spPr>
          <a:xfrm>
            <a:off x="7982712" y="2697480"/>
            <a:ext cx="548640" cy="548640"/>
          </a:xfrm>
          <a:prstGeom prst="ellipse">
            <a:avLst/>
          </a:prstGeom>
          <a:solidFill>
            <a:schemeClr val="accent1"/>
          </a:solidFill>
          <a:ln w="12700">
            <a:solidFill>
              <a:schemeClr val="accent1"/>
            </a:solidFill>
            <a:prstDash val="solid"/>
          </a:ln>
        </p:spPr>
      </p:sp>
      <p:sp>
        <p:nvSpPr>
          <p:cNvPr id="22" name="Step 4 number"/>
          <p:cNvSpPr txBox="1"/>
          <p:nvPr/>
        </p:nvSpPr>
        <p:spPr>
          <a:xfrm>
            <a:off x="7982712" y="26974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Match"/>
          <p:cNvSpPr txBox="1"/>
          <p:nvPr/>
        </p:nvSpPr>
        <p:spPr>
          <a:xfrm>
            <a:off x="7251192" y="3429000"/>
            <a:ext cx="2011680" cy="411480"/>
          </a:xfrm>
          <a:prstGeom prst="rect">
            <a:avLst/>
          </a:prstGeom>
          <a:noFill/>
          <a:ln/>
        </p:spPr>
        <p:txBody>
          <a:bodyPr wrap="square" lIns="0" tIns="0" rIns="0" bIns="0" rtlCol="0" anchor="t"/>
          <a:lstStyle/>
          <a:p>
            <a:pPr algn="ctr" indent="0" marL="0">
              <a:buNone/>
            </a:pPr>
            <a:r>
              <a:rPr lang="en-US" sz="1700" b="1" dirty="0">
                <a:solidFill>
                  <a:schemeClr val="tx1"/>
                </a:solidFill>
              </a:rPr>
              <a:t>Match</a:t>
            </a:r>
            <a:endParaRPr lang="en-US" sz="1700" dirty="0"/>
          </a:p>
        </p:txBody>
      </p:sp>
      <p:sp>
        <p:nvSpPr>
          <p:cNvPr id="24" name="Match detail"/>
          <p:cNvSpPr txBox="1"/>
          <p:nvPr/>
        </p:nvSpPr>
        <p:spPr>
          <a:xfrm>
            <a:off x="7251192" y="3858768"/>
            <a:ext cx="2011680" cy="1143000"/>
          </a:xfrm>
          <a:prstGeom prst="rect">
            <a:avLst/>
          </a:prstGeom>
          <a:noFill/>
          <a:ln/>
        </p:spPr>
        <p:txBody>
          <a:bodyPr wrap="square" lIns="0" tIns="0" rIns="0" bIns="0" rtlCol="0" anchor="t"/>
          <a:lstStyle/>
          <a:p>
            <a:pPr algn="ctr" indent="0" marL="0">
              <a:buNone/>
            </a:pPr>
            <a:r>
              <a:rPr lang="en-US" sz="1250" dirty="0">
                <a:solidFill>
                  <a:schemeClr val="tx2"/>
                </a:solidFill>
              </a:rPr>
              <a:t>Owners give still-usable removed fittings to neighbours with the same design.</a:t>
            </a:r>
            <a:endParaRPr lang="en-US" sz="1250" dirty="0"/>
          </a:p>
        </p:txBody>
      </p:sp>
      <p:sp>
        <p:nvSpPr>
          <p:cNvPr id="25" name="Learn and scale timing"/>
          <p:cNvSpPr txBox="1"/>
          <p:nvPr/>
        </p:nvSpPr>
        <p:spPr>
          <a:xfrm>
            <a:off x="9409176" y="2240280"/>
            <a:ext cx="2011680" cy="365760"/>
          </a:xfrm>
          <a:prstGeom prst="rect">
            <a:avLst/>
          </a:prstGeom>
          <a:noFill/>
          <a:ln/>
        </p:spPr>
        <p:txBody>
          <a:bodyPr wrap="square" lIns="0" tIns="0" rIns="0" bIns="0" rtlCol="0" anchor="t"/>
          <a:lstStyle/>
          <a:p>
            <a:pPr algn="ctr" indent="0" marL="0">
              <a:buNone/>
            </a:pPr>
            <a:r>
              <a:rPr lang="en-US" sz="1300" b="1" dirty="0">
                <a:solidFill>
                  <a:schemeClr val="accent1"/>
                </a:solidFill>
              </a:rPr>
              <a:t>Next launch</a:t>
            </a:r>
            <a:endParaRPr lang="en-US" sz="1300" dirty="0"/>
          </a:p>
        </p:txBody>
      </p:sp>
      <p:sp>
        <p:nvSpPr>
          <p:cNvPr id="26" name="Step 5 circle"/>
          <p:cNvSpPr/>
          <p:nvPr/>
        </p:nvSpPr>
        <p:spPr>
          <a:xfrm>
            <a:off x="10140696" y="2697480"/>
            <a:ext cx="548640" cy="548640"/>
          </a:xfrm>
          <a:prstGeom prst="ellipse">
            <a:avLst/>
          </a:prstGeom>
          <a:solidFill>
            <a:schemeClr val="accent1"/>
          </a:solidFill>
          <a:ln w="12700">
            <a:solidFill>
              <a:schemeClr val="accent1"/>
            </a:solidFill>
            <a:prstDash val="solid"/>
          </a:ln>
        </p:spPr>
      </p:sp>
      <p:sp>
        <p:nvSpPr>
          <p:cNvPr id="27" name="Step 5 number"/>
          <p:cNvSpPr txBox="1"/>
          <p:nvPr/>
        </p:nvSpPr>
        <p:spPr>
          <a:xfrm>
            <a:off x="10140696" y="26974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Learn and scale"/>
          <p:cNvSpPr txBox="1"/>
          <p:nvPr/>
        </p:nvSpPr>
        <p:spPr>
          <a:xfrm>
            <a:off x="9409176" y="3429000"/>
            <a:ext cx="2011680" cy="411480"/>
          </a:xfrm>
          <a:prstGeom prst="rect">
            <a:avLst/>
          </a:prstGeom>
          <a:noFill/>
          <a:ln/>
        </p:spPr>
        <p:txBody>
          <a:bodyPr wrap="square" lIns="0" tIns="0" rIns="0" bIns="0" rtlCol="0" anchor="t"/>
          <a:lstStyle/>
          <a:p>
            <a:pPr algn="ctr" indent="0" marL="0">
              <a:buNone/>
            </a:pPr>
            <a:r>
              <a:rPr lang="en-US" sz="1700" b="1" dirty="0">
                <a:solidFill>
                  <a:schemeClr val="tx1"/>
                </a:solidFill>
              </a:rPr>
              <a:t>Learn and scale</a:t>
            </a:r>
            <a:endParaRPr lang="en-US" sz="1700" dirty="0"/>
          </a:p>
        </p:txBody>
      </p:sp>
      <p:sp>
        <p:nvSpPr>
          <p:cNvPr id="29" name="Learn and scale detail"/>
          <p:cNvSpPr txBox="1"/>
          <p:nvPr/>
        </p:nvSpPr>
        <p:spPr>
          <a:xfrm>
            <a:off x="9409176" y="3858768"/>
            <a:ext cx="2011680" cy="1143000"/>
          </a:xfrm>
          <a:prstGeom prst="rect">
            <a:avLst/>
          </a:prstGeom>
          <a:noFill/>
          <a:ln/>
        </p:spPr>
        <p:txBody>
          <a:bodyPr wrap="square" lIns="0" tIns="0" rIns="0" bIns="0" rtlCol="0" anchor="t"/>
          <a:lstStyle/>
          <a:p>
            <a:pPr algn="ctr" indent="0" marL="0">
              <a:buNone/>
            </a:pPr>
            <a:r>
              <a:rPr lang="en-US" sz="1250" dirty="0">
                <a:solidFill>
                  <a:schemeClr val="tx2"/>
                </a:solidFill>
              </a:rPr>
              <a:t>Measure the results, change the next package, add more designs.</a:t>
            </a:r>
            <a:endParaRPr lang="en-US" sz="1250" dirty="0"/>
          </a:p>
        </p:txBody>
      </p:sp>
      <p:sp>
        <p:nvSpPr>
          <p:cNvPr id="30" name="Measures card"/>
          <p:cNvSpPr/>
          <p:nvPr/>
        </p:nvSpPr>
        <p:spPr>
          <a:xfrm>
            <a:off x="777240" y="5257800"/>
            <a:ext cx="10634472" cy="1051560"/>
          </a:xfrm>
          <a:prstGeom prst="roundRect">
            <a:avLst>
              <a:gd name="adj" fmla="val 10435"/>
            </a:avLst>
          </a:prstGeom>
          <a:solidFill>
            <a:schemeClr val="bg2"/>
          </a:solidFill>
          <a:ln w="12700">
            <a:solidFill>
              <a:schemeClr val="bg2"/>
            </a:solidFill>
            <a:prstDash val="solid"/>
          </a:ln>
        </p:spPr>
      </p:sp>
      <p:sp>
        <p:nvSpPr>
          <p:cNvPr id="31" name="Text 29"/>
          <p:cNvSpPr txBox="1"/>
          <p:nvPr/>
        </p:nvSpPr>
        <p:spPr>
          <a:xfrm>
            <a:off x="1051560" y="5376672"/>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WE MEASURE IN THE PILOT</a:t>
            </a:r>
            <a:endParaRPr lang="en-US" sz="1100" dirty="0"/>
          </a:p>
        </p:txBody>
      </p:sp>
      <p:sp>
        <p:nvSpPr>
          <p:cNvPr id="32" name="Measure 1"/>
          <p:cNvSpPr txBox="1"/>
          <p:nvPr/>
        </p:nvSpPr>
        <p:spPr>
          <a:xfrm>
            <a:off x="1051560" y="5687568"/>
            <a:ext cx="1880006" cy="502920"/>
          </a:xfrm>
          <a:prstGeom prst="rect">
            <a:avLst/>
          </a:prstGeom>
          <a:noFill/>
          <a:ln/>
        </p:spPr>
        <p:txBody>
          <a:bodyPr wrap="square" lIns="0" tIns="0" rIns="0" bIns="0" rtlCol="0" anchor="t"/>
          <a:lstStyle/>
          <a:p>
            <a:pPr indent="0" marL="0">
              <a:buNone/>
            </a:pPr>
            <a:r>
              <a:rPr lang="en-US" sz="1300" b="1" dirty="0">
                <a:solidFill>
                  <a:schemeClr val="tx1"/>
                </a:solidFill>
              </a:rPr>
              <a:t>kg of waste never installed</a:t>
            </a:r>
            <a:endParaRPr lang="en-US" sz="1300" dirty="0"/>
          </a:p>
        </p:txBody>
      </p:sp>
      <p:sp>
        <p:nvSpPr>
          <p:cNvPr id="33" name="Measure 2"/>
          <p:cNvSpPr txBox="1"/>
          <p:nvPr/>
        </p:nvSpPr>
        <p:spPr>
          <a:xfrm>
            <a:off x="3068726" y="5687568"/>
            <a:ext cx="1880006" cy="502920"/>
          </a:xfrm>
          <a:prstGeom prst="rect">
            <a:avLst/>
          </a:prstGeom>
          <a:noFill/>
          <a:ln/>
        </p:spPr>
        <p:txBody>
          <a:bodyPr wrap="square" lIns="0" tIns="0" rIns="0" bIns="0" rtlCol="0" anchor="t"/>
          <a:lstStyle/>
          <a:p>
            <a:pPr indent="0" marL="0">
              <a:buNone/>
            </a:pPr>
            <a:r>
              <a:rPr lang="en-US" sz="1300" b="1" dirty="0">
                <a:solidFill>
                  <a:schemeClr val="tx1"/>
                </a:solidFill>
              </a:rPr>
              <a:t>kg CO₂e avoided</a:t>
            </a:r>
            <a:endParaRPr lang="en-US" sz="1300" dirty="0"/>
          </a:p>
        </p:txBody>
      </p:sp>
      <p:sp>
        <p:nvSpPr>
          <p:cNvPr id="34" name="Measure 3"/>
          <p:cNvSpPr txBox="1"/>
          <p:nvPr/>
        </p:nvSpPr>
        <p:spPr>
          <a:xfrm>
            <a:off x="5085893" y="5687568"/>
            <a:ext cx="1880006" cy="502920"/>
          </a:xfrm>
          <a:prstGeom prst="rect">
            <a:avLst/>
          </a:prstGeom>
          <a:noFill/>
          <a:ln/>
        </p:spPr>
        <p:txBody>
          <a:bodyPr wrap="square" lIns="0" tIns="0" rIns="0" bIns="0" rtlCol="0" anchor="t"/>
          <a:lstStyle/>
          <a:p>
            <a:pPr indent="0" marL="0">
              <a:buNone/>
            </a:pPr>
            <a:r>
              <a:rPr lang="en-US" sz="1300" b="1" dirty="0">
                <a:solidFill>
                  <a:schemeClr val="tx1"/>
                </a:solidFill>
              </a:rPr>
              <a:t>RM saved after credits</a:t>
            </a:r>
            <a:endParaRPr lang="en-US" sz="1300" dirty="0"/>
          </a:p>
        </p:txBody>
      </p:sp>
      <p:sp>
        <p:nvSpPr>
          <p:cNvPr id="35" name="Measure 4"/>
          <p:cNvSpPr txBox="1"/>
          <p:nvPr/>
        </p:nvSpPr>
        <p:spPr>
          <a:xfrm>
            <a:off x="7103059" y="5687568"/>
            <a:ext cx="1880006" cy="502920"/>
          </a:xfrm>
          <a:prstGeom prst="rect">
            <a:avLst/>
          </a:prstGeom>
          <a:noFill/>
          <a:ln/>
        </p:spPr>
        <p:txBody>
          <a:bodyPr wrap="square" lIns="0" tIns="0" rIns="0" bIns="0" rtlCol="0" anchor="t"/>
          <a:lstStyle/>
          <a:p>
            <a:pPr indent="0" marL="0">
              <a:buNone/>
            </a:pPr>
            <a:r>
              <a:rPr lang="en-US" sz="1300" b="1" dirty="0">
                <a:solidFill>
                  <a:schemeClr val="tx1"/>
                </a:solidFill>
              </a:rPr>
              <a:t>Upgrade revenue</a:t>
            </a:r>
            <a:endParaRPr lang="en-US" sz="1300" dirty="0"/>
          </a:p>
        </p:txBody>
      </p:sp>
      <p:sp>
        <p:nvSpPr>
          <p:cNvPr id="36" name="Measure 5"/>
          <p:cNvSpPr txBox="1"/>
          <p:nvPr/>
        </p:nvSpPr>
        <p:spPr>
          <a:xfrm>
            <a:off x="9120226" y="5687568"/>
            <a:ext cx="1880006" cy="502920"/>
          </a:xfrm>
          <a:prstGeom prst="rect">
            <a:avLst/>
          </a:prstGeom>
          <a:noFill/>
          <a:ln/>
        </p:spPr>
        <p:txBody>
          <a:bodyPr wrap="square" lIns="0" tIns="0" rIns="0" bIns="0" rtlCol="0" anchor="t"/>
          <a:lstStyle/>
          <a:p>
            <a:pPr indent="0" marL="0">
              <a:buNone/>
            </a:pPr>
            <a:r>
              <a:rPr lang="en-US" sz="1300" b="1" dirty="0">
                <a:solidFill>
                  <a:schemeClr val="tx1"/>
                </a:solidFill>
              </a:rPr>
              <a:t>Reuse rate: collected ÷ removed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9. Visual Concept</a:t>
            </a:r>
            <a:endParaRPr lang="en-US" sz="3600" dirty="0"/>
          </a:p>
        </p:txBody>
      </p:sp>
      <p:pic>
        <p:nvPicPr>
          <p:cNvPr id="3" name="SDP dashboard screenshot" descr="SDP dashboard screen from the prototype">    </p:cNvPr>
          <p:cNvPicPr>
            <a:picLocks noChangeAspect="1"/>
          </p:cNvPicPr>
          <p:nvPr/>
        </p:nvPicPr>
        <p:blipFill>
          <a:blip r:embed="rId1"/>
          <a:stretch>
            <a:fillRect/>
          </a:stretch>
        </p:blipFill>
        <p:spPr>
          <a:xfrm>
            <a:off x="777240" y="1645920"/>
            <a:ext cx="3383280" cy="2114550"/>
          </a:xfrm>
          <a:prstGeom prst="rect">
            <a:avLst/>
          </a:prstGeom>
        </p:spPr>
      </p:pic>
      <p:sp>
        <p:nvSpPr>
          <p:cNvPr id="4" name="SDP dashboard frame"/>
          <p:cNvSpPr/>
          <p:nvPr/>
        </p:nvSpPr>
        <p:spPr>
          <a:xfrm>
            <a:off x="777240" y="1645920"/>
            <a:ext cx="3383280" cy="2114550"/>
          </a:xfrm>
          <a:prstGeom prst="rect">
            <a:avLst/>
          </a:prstGeom>
          <a:ln w="12700">
            <a:solidFill>
              <a:srgbClr val="D0D0D0"/>
            </a:solidFill>
            <a:prstDash val="solid"/>
          </a:ln>
        </p:spPr>
      </p:sp>
      <p:sp>
        <p:nvSpPr>
          <p:cNvPr id="5" name="SDP dashboard caption"/>
          <p:cNvSpPr txBox="1"/>
          <p:nvPr/>
        </p:nvSpPr>
        <p:spPr>
          <a:xfrm>
            <a:off x="4343400" y="1691640"/>
            <a:ext cx="1600200" cy="202311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SDP dashboard</a:t>
            </a:r>
            <a:endParaRPr lang="en-US" sz="1500" dirty="0"/>
          </a:p>
          <a:p>
            <a:pPr indent="0" marL="0">
              <a:spcAft>
                <a:spcPts val="600"/>
              </a:spcAft>
              <a:buNone/>
            </a:pPr>
            <a:r>
              <a:rPr lang="en-US" sz="1250" dirty="0">
                <a:solidFill>
                  <a:schemeClr val="tx1"/>
                </a:solidFill>
              </a:rPr>
              <a:t>Kitchen cabinets are the #1 rip-out; it says what to stop installing.</a:t>
            </a:r>
            <a:endParaRPr lang="en-US" sz="1500" dirty="0"/>
          </a:p>
        </p:txBody>
      </p:sp>
      <p:pic>
        <p:nvPicPr>
          <p:cNvPr id="6" name="Buyer Advisor screenshot" descr="Buyer Advisor screen from the prototype">    </p:cNvPr>
          <p:cNvPicPr>
            <a:picLocks noChangeAspect="1"/>
          </p:cNvPicPr>
          <p:nvPr/>
        </p:nvPicPr>
        <p:blipFill>
          <a:blip r:embed="rId2"/>
          <a:stretch>
            <a:fillRect/>
          </a:stretch>
        </p:blipFill>
        <p:spPr>
          <a:xfrm>
            <a:off x="6172200" y="1645920"/>
            <a:ext cx="3383280" cy="2114550"/>
          </a:xfrm>
          <a:prstGeom prst="rect">
            <a:avLst/>
          </a:prstGeom>
        </p:spPr>
      </p:pic>
      <p:sp>
        <p:nvSpPr>
          <p:cNvPr id="7" name="Buyer Advisor frame"/>
          <p:cNvSpPr/>
          <p:nvPr/>
        </p:nvSpPr>
        <p:spPr>
          <a:xfrm>
            <a:off x="6172200" y="1645920"/>
            <a:ext cx="3383280" cy="2114550"/>
          </a:xfrm>
          <a:prstGeom prst="rect">
            <a:avLst/>
          </a:prstGeom>
          <a:ln w="12700">
            <a:solidFill>
              <a:srgbClr val="D0D0D0"/>
            </a:solidFill>
            <a:prstDash val="solid"/>
          </a:ln>
        </p:spPr>
      </p:sp>
      <p:sp>
        <p:nvSpPr>
          <p:cNvPr id="8" name="Buyer Advisor caption"/>
          <p:cNvSpPr txBox="1"/>
          <p:nvPr/>
        </p:nvSpPr>
        <p:spPr>
          <a:xfrm>
            <a:off x="9738360" y="1691640"/>
            <a:ext cx="1600200" cy="202311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Buyer Advisor</a:t>
            </a:r>
            <a:endParaRPr lang="en-US" sz="1500" dirty="0"/>
          </a:p>
          <a:p>
            <a:pPr indent="0" marL="0">
              <a:spcAft>
                <a:spcPts val="600"/>
              </a:spcAft>
              <a:buNone/>
            </a:pPr>
            <a:r>
              <a:rPr lang="en-US" sz="1250" dirty="0">
                <a:solidFill>
                  <a:schemeClr val="tx1"/>
                </a:solidFill>
              </a:rPr>
              <a:t>Four choices give the buyer RM 9,920 back, with the working shown.</a:t>
            </a:r>
            <a:endParaRPr lang="en-US" sz="1500" dirty="0"/>
          </a:p>
        </p:txBody>
      </p:sp>
      <p:pic>
        <p:nvPicPr>
          <p:cNvPr id="9" name="Neighbour Match screenshot" descr="Neighbour Match screen from the prototype">    </p:cNvPr>
          <p:cNvPicPr>
            <a:picLocks noChangeAspect="1"/>
          </p:cNvPicPr>
          <p:nvPr/>
        </p:nvPicPr>
        <p:blipFill>
          <a:blip r:embed="rId3"/>
          <a:stretch>
            <a:fillRect/>
          </a:stretch>
        </p:blipFill>
        <p:spPr>
          <a:xfrm>
            <a:off x="777240" y="4080510"/>
            <a:ext cx="3383280" cy="2114550"/>
          </a:xfrm>
          <a:prstGeom prst="rect">
            <a:avLst/>
          </a:prstGeom>
        </p:spPr>
      </p:pic>
      <p:sp>
        <p:nvSpPr>
          <p:cNvPr id="10" name="Neighbour Match frame"/>
          <p:cNvSpPr/>
          <p:nvPr/>
        </p:nvSpPr>
        <p:spPr>
          <a:xfrm>
            <a:off x="777240" y="4080510"/>
            <a:ext cx="3383280" cy="2114550"/>
          </a:xfrm>
          <a:prstGeom prst="rect">
            <a:avLst/>
          </a:prstGeom>
          <a:ln w="12700">
            <a:solidFill>
              <a:srgbClr val="D0D0D0"/>
            </a:solidFill>
            <a:prstDash val="solid"/>
          </a:ln>
        </p:spPr>
      </p:sp>
      <p:sp>
        <p:nvSpPr>
          <p:cNvPr id="11" name="Neighbour Match caption"/>
          <p:cNvSpPr txBox="1"/>
          <p:nvPr/>
        </p:nvSpPr>
        <p:spPr>
          <a:xfrm>
            <a:off x="4343400" y="4126230"/>
            <a:ext cx="1600200" cy="202311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Neighbour Match</a:t>
            </a:r>
            <a:endParaRPr lang="en-US" sz="1500" dirty="0"/>
          </a:p>
          <a:p>
            <a:pPr indent="0" marL="0">
              <a:spcAft>
                <a:spcPts val="600"/>
              </a:spcAft>
              <a:buNone/>
            </a:pPr>
            <a:r>
              <a:rPr lang="en-US" sz="1250" dirty="0">
                <a:solidFill>
                  <a:schemeClr val="tx1"/>
                </a:solidFill>
              </a:rPr>
              <a:t>Removed fittings go to the nearest home with the same design.</a:t>
            </a:r>
            <a:endParaRPr lang="en-US" sz="1500" dirty="0"/>
          </a:p>
        </p:txBody>
      </p:sp>
      <p:pic>
        <p:nvPicPr>
          <p:cNvPr id="12" name="AI tagging screenshot" descr="AI tagging screen from the prototype">    </p:cNvPr>
          <p:cNvPicPr>
            <a:picLocks noChangeAspect="1"/>
          </p:cNvPicPr>
          <p:nvPr/>
        </p:nvPicPr>
        <p:blipFill>
          <a:blip r:embed="rId4"/>
          <a:stretch>
            <a:fillRect/>
          </a:stretch>
        </p:blipFill>
        <p:spPr>
          <a:xfrm>
            <a:off x="6172200" y="4080510"/>
            <a:ext cx="3383280" cy="2114550"/>
          </a:xfrm>
          <a:prstGeom prst="rect">
            <a:avLst/>
          </a:prstGeom>
        </p:spPr>
      </p:pic>
      <p:sp>
        <p:nvSpPr>
          <p:cNvPr id="13" name="AI tagging frame"/>
          <p:cNvSpPr/>
          <p:nvPr/>
        </p:nvSpPr>
        <p:spPr>
          <a:xfrm>
            <a:off x="6172200" y="4080510"/>
            <a:ext cx="3383280" cy="2114550"/>
          </a:xfrm>
          <a:prstGeom prst="rect">
            <a:avLst/>
          </a:prstGeom>
          <a:ln w="12700">
            <a:solidFill>
              <a:srgbClr val="D0D0D0"/>
            </a:solidFill>
            <a:prstDash val="solid"/>
          </a:ln>
        </p:spPr>
      </p:sp>
      <p:sp>
        <p:nvSpPr>
          <p:cNvPr id="14" name="AI tagging caption"/>
          <p:cNvSpPr txBox="1"/>
          <p:nvPr/>
        </p:nvSpPr>
        <p:spPr>
          <a:xfrm>
            <a:off x="9738360" y="4126230"/>
            <a:ext cx="1600200" cy="202311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AI tagging</a:t>
            </a:r>
            <a:endParaRPr lang="en-US" sz="1500" dirty="0"/>
          </a:p>
          <a:p>
            <a:pPr indent="0" marL="0">
              <a:spcAft>
                <a:spcPts val="600"/>
              </a:spcAft>
              <a:buNone/>
            </a:pPr>
            <a:r>
              <a:rPr lang="en-US" sz="1250" dirty="0">
                <a:solidFill>
                  <a:schemeClr val="tx1"/>
                </a:solidFill>
              </a:rPr>
              <a:t>A Malay note sorted into kitchen cabinets and kitchen top.</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10. Why Our Team Should Win</a:t>
            </a:r>
            <a:endParaRPr lang="en-US" sz="3600" dirty="0"/>
          </a:p>
        </p:txBody>
      </p:sp>
      <p:sp>
        <p:nvSpPr>
          <p:cNvPr id="3" name="Why we should win (93 words)"/>
          <p:cNvSpPr txBox="1"/>
          <p:nvPr/>
        </p:nvSpPr>
        <p:spPr>
          <a:xfrm>
            <a:off x="777240" y="1828800"/>
            <a:ext cx="6629400" cy="4434840"/>
          </a:xfrm>
          <a:prstGeom prst="rect">
            <a:avLst/>
          </a:prstGeom>
          <a:noFill/>
          <a:ln/>
        </p:spPr>
        <p:txBody>
          <a:bodyPr wrap="square" lIns="0" tIns="0" rIns="0" bIns="0" rtlCol="0" anchor="t"/>
          <a:lstStyle/>
          <a:p>
            <a:pPr indent="0" marL="0">
              <a:lnSpc>
                <a:spcPct val="112000"/>
              </a:lnSpc>
              <a:spcAft>
                <a:spcPts val="1000"/>
              </a:spcAft>
              <a:buNone/>
            </a:pPr>
            <a:r>
              <a:rPr lang="en-US" sz="2000" b="1" dirty="0">
                <a:solidFill>
                  <a:schemeClr val="accent1"/>
                </a:solidFill>
              </a:rPr>
              <a:t>Most waste ideas clean up after the damage.</a:t>
            </a:r>
            <a:endParaRPr lang="en-US" sz="2000" dirty="0"/>
          </a:p>
          <a:p>
            <a:pPr indent="0" marL="0">
              <a:lnSpc>
                <a:spcPct val="112000"/>
              </a:lnSpc>
              <a:spcAft>
                <a:spcPts val="1000"/>
              </a:spcAft>
              <a:buNone/>
            </a:pPr>
            <a:r>
              <a:rPr lang="en-US" sz="2000" dirty="0">
                <a:solidFill>
                  <a:schemeClr val="tx1"/>
                </a:solidFill>
              </a:rPr>
              <a:t>Right-Fit Homes stops it before it is built, using renovation applications SDP already receives and no new equipment. It is a working app, not a mock-up: SDP staff, homeowners and buyers can each use the whole loop today. Our numbers are honest: carbon counts only where owners really remove a fitting, and every figure shows its working. AI reads owners' messy Malay and English notes, with offline rules as backup. Every launch makes the next one smarter, cutting SDP's build cost and carbon while buyers save.</a:t>
            </a:r>
            <a:endParaRPr lang="en-US" sz="2000" dirty="0"/>
          </a:p>
        </p:txBody>
      </p:sp>
      <p:sp>
        <p:nvSpPr>
          <p:cNvPr id="4" name="Working app card"/>
          <p:cNvSpPr/>
          <p:nvPr/>
        </p:nvSpPr>
        <p:spPr>
          <a:xfrm>
            <a:off x="7818120" y="1783080"/>
            <a:ext cx="3593592" cy="1280160"/>
          </a:xfrm>
          <a:prstGeom prst="roundRect">
            <a:avLst>
              <a:gd name="adj" fmla="val 8571"/>
            </a:avLst>
          </a:prstGeom>
          <a:solidFill>
            <a:schemeClr val="accent1"/>
          </a:solidFill>
          <a:ln w="12700">
            <a:solidFill>
              <a:schemeClr val="accent1"/>
            </a:solidFill>
            <a:prstDash val="solid"/>
          </a:ln>
        </p:spPr>
      </p:sp>
      <p:sp>
        <p:nvSpPr>
          <p:cNvPr id="5" name="Working app"/>
          <p:cNvSpPr txBox="1"/>
          <p:nvPr/>
        </p:nvSpPr>
        <p:spPr>
          <a:xfrm>
            <a:off x="8046720" y="1938528"/>
            <a:ext cx="3200400" cy="502920"/>
          </a:xfrm>
          <a:prstGeom prst="rect">
            <a:avLst/>
          </a:prstGeom>
          <a:noFill/>
          <a:ln/>
        </p:spPr>
        <p:txBody>
          <a:bodyPr wrap="square" lIns="0" tIns="0" rIns="0" bIns="0" rtlCol="0" anchor="t"/>
          <a:lstStyle/>
          <a:p>
            <a:pPr indent="0" marL="0">
              <a:buNone/>
            </a:pPr>
            <a:r>
              <a:rPr lang="en-US" sz="2400" b="1" dirty="0">
                <a:solidFill>
                  <a:schemeClr val="bg1"/>
                </a:solidFill>
              </a:rPr>
              <a:t>Working app</a:t>
            </a:r>
            <a:endParaRPr lang="en-US" sz="2400" dirty="0"/>
          </a:p>
        </p:txBody>
      </p:sp>
      <p:sp>
        <p:nvSpPr>
          <p:cNvPr id="6" name="Working app detail"/>
          <p:cNvSpPr txBox="1"/>
          <p:nvPr/>
        </p:nvSpPr>
        <p:spPr>
          <a:xfrm>
            <a:off x="8046720" y="2441448"/>
            <a:ext cx="3200400" cy="548640"/>
          </a:xfrm>
          <a:prstGeom prst="rect">
            <a:avLst/>
          </a:prstGeom>
          <a:noFill/>
          <a:ln/>
        </p:spPr>
        <p:txBody>
          <a:bodyPr wrap="square" lIns="0" tIns="0" rIns="0" bIns="0" rtlCol="0" anchor="t"/>
          <a:lstStyle/>
          <a:p>
            <a:pPr indent="0" marL="0">
              <a:buNone/>
            </a:pPr>
            <a:r>
              <a:rPr lang="en-US" sz="1300" dirty="0">
                <a:solidFill>
                  <a:schemeClr val="bg1"/>
                </a:solidFill>
              </a:rPr>
              <a:t>The whole loop runs today, for SDP, owners and buyers</a:t>
            </a:r>
            <a:endParaRPr lang="en-US" sz="1300" dirty="0"/>
          </a:p>
        </p:txBody>
      </p:sp>
      <p:sp>
        <p:nvSpPr>
          <p:cNvPr id="7" name="84% card"/>
          <p:cNvSpPr/>
          <p:nvPr/>
        </p:nvSpPr>
        <p:spPr>
          <a:xfrm>
            <a:off x="7818120" y="3291840"/>
            <a:ext cx="3593592" cy="1280160"/>
          </a:xfrm>
          <a:prstGeom prst="roundRect">
            <a:avLst>
              <a:gd name="adj" fmla="val 8571"/>
            </a:avLst>
          </a:prstGeom>
          <a:solidFill>
            <a:schemeClr val="bg2"/>
          </a:solidFill>
          <a:ln w="12700">
            <a:solidFill>
              <a:schemeClr val="bg2"/>
            </a:solidFill>
            <a:prstDash val="solid"/>
          </a:ln>
        </p:spPr>
      </p:sp>
      <p:sp>
        <p:nvSpPr>
          <p:cNvPr id="8" name="84%"/>
          <p:cNvSpPr txBox="1"/>
          <p:nvPr/>
        </p:nvSpPr>
        <p:spPr>
          <a:xfrm>
            <a:off x="8046720" y="3447288"/>
            <a:ext cx="3200400" cy="502920"/>
          </a:xfrm>
          <a:prstGeom prst="rect">
            <a:avLst/>
          </a:prstGeom>
          <a:noFill/>
          <a:ln/>
        </p:spPr>
        <p:txBody>
          <a:bodyPr wrap="square" lIns="0" tIns="0" rIns="0" bIns="0" rtlCol="0" anchor="t"/>
          <a:lstStyle/>
          <a:p>
            <a:pPr indent="0" marL="0">
              <a:buNone/>
            </a:pPr>
            <a:r>
              <a:rPr lang="en-US" sz="2400" b="1" dirty="0">
                <a:solidFill>
                  <a:schemeClr val="accent1"/>
                </a:solidFill>
              </a:rPr>
              <a:t>84%</a:t>
            </a:r>
            <a:endParaRPr lang="en-US" sz="2400" dirty="0"/>
          </a:p>
        </p:txBody>
      </p:sp>
      <p:sp>
        <p:nvSpPr>
          <p:cNvPr id="9" name="84% detail"/>
          <p:cNvSpPr txBox="1"/>
          <p:nvPr/>
        </p:nvSpPr>
        <p:spPr>
          <a:xfrm>
            <a:off x="8046720" y="3950208"/>
            <a:ext cx="3200400" cy="548640"/>
          </a:xfrm>
          <a:prstGeom prst="rect">
            <a:avLst/>
          </a:prstGeom>
          <a:noFill/>
          <a:ln/>
        </p:spPr>
        <p:txBody>
          <a:bodyPr wrap="square" lIns="0" tIns="0" rIns="0" bIns="0" rtlCol="0" anchor="t"/>
          <a:lstStyle/>
          <a:p>
            <a:pPr indent="0" marL="0">
              <a:buNone/>
            </a:pPr>
            <a:r>
              <a:rPr lang="en-US" sz="1300" dirty="0">
                <a:solidFill>
                  <a:schemeClr val="tx1"/>
                </a:solidFill>
              </a:rPr>
              <a:t>of rip-out waste avoided, projected for a 100-home pilot</a:t>
            </a:r>
            <a:endParaRPr lang="en-US" sz="1300" dirty="0"/>
          </a:p>
        </p:txBody>
      </p:sp>
      <p:sp>
        <p:nvSpPr>
          <p:cNvPr id="10" name="36 homes card"/>
          <p:cNvSpPr/>
          <p:nvPr/>
        </p:nvSpPr>
        <p:spPr>
          <a:xfrm>
            <a:off x="7818120" y="4800600"/>
            <a:ext cx="3593592" cy="1280160"/>
          </a:xfrm>
          <a:prstGeom prst="roundRect">
            <a:avLst>
              <a:gd name="adj" fmla="val 8571"/>
            </a:avLst>
          </a:prstGeom>
          <a:solidFill>
            <a:schemeClr val="bg2"/>
          </a:solidFill>
          <a:ln w="12700">
            <a:solidFill>
              <a:schemeClr val="bg2"/>
            </a:solidFill>
            <a:prstDash val="solid"/>
          </a:ln>
        </p:spPr>
      </p:sp>
      <p:sp>
        <p:nvSpPr>
          <p:cNvPr id="11" name="36 homes"/>
          <p:cNvSpPr txBox="1"/>
          <p:nvPr/>
        </p:nvSpPr>
        <p:spPr>
          <a:xfrm>
            <a:off x="8046720" y="4956048"/>
            <a:ext cx="3200400" cy="502920"/>
          </a:xfrm>
          <a:prstGeom prst="rect">
            <a:avLst/>
          </a:prstGeom>
          <a:noFill/>
          <a:ln/>
        </p:spPr>
        <p:txBody>
          <a:bodyPr wrap="square" lIns="0" tIns="0" rIns="0" bIns="0" rtlCol="0" anchor="t"/>
          <a:lstStyle/>
          <a:p>
            <a:pPr indent="0" marL="0">
              <a:buNone/>
            </a:pPr>
            <a:r>
              <a:rPr lang="en-US" sz="2400" b="1" dirty="0">
                <a:solidFill>
                  <a:schemeClr val="accent1"/>
                </a:solidFill>
              </a:rPr>
              <a:t>36 homes</a:t>
            </a:r>
            <a:endParaRPr lang="en-US" sz="2400" dirty="0"/>
          </a:p>
        </p:txBody>
      </p:sp>
      <p:sp>
        <p:nvSpPr>
          <p:cNvPr id="12" name="36 homes detail"/>
          <p:cNvSpPr txBox="1"/>
          <p:nvPr/>
        </p:nvSpPr>
        <p:spPr>
          <a:xfrm>
            <a:off x="8046720" y="5458968"/>
            <a:ext cx="3200400" cy="548640"/>
          </a:xfrm>
          <a:prstGeom prst="rect">
            <a:avLst/>
          </a:prstGeom>
          <a:noFill/>
          <a:ln/>
        </p:spPr>
        <p:txBody>
          <a:bodyPr wrap="square" lIns="0" tIns="0" rIns="0" bIns="0" rtlCol="0" anchor="t"/>
          <a:lstStyle/>
          <a:p>
            <a:pPr indent="0" marL="0">
              <a:buNone/>
            </a:pPr>
            <a:r>
              <a:rPr lang="en-US" sz="1300" dirty="0">
                <a:solidFill>
                  <a:schemeClr val="tx1"/>
                </a:solidFill>
              </a:rPr>
              <a:t>to pay back the running cost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77240" y="2331720"/>
            <a:ext cx="10634472" cy="1143000"/>
          </a:xfrm>
          <a:prstGeom prst="rect">
            <a:avLst/>
          </a:prstGeom>
          <a:noFill/>
          <a:ln/>
        </p:spPr>
        <p:txBody>
          <a:bodyPr wrap="square" lIns="0" tIns="0" rIns="0" bIns="0" rtlCol="0" anchor="ctr"/>
          <a:lstStyle/>
          <a:p>
            <a:pPr algn="ctr" indent="0" marL="0">
              <a:buNone/>
            </a:pPr>
            <a:r>
              <a:rPr lang="en-US" sz="6000" b="1" dirty="0">
                <a:solidFill>
                  <a:schemeClr val="bg1"/>
                </a:solidFill>
              </a:rPr>
              <a:t>Thank You</a:t>
            </a:r>
            <a:endParaRPr lang="en-US" sz="6000" dirty="0"/>
          </a:p>
        </p:txBody>
      </p:sp>
      <p:sp>
        <p:nvSpPr>
          <p:cNvPr id="3" name="Tagline"/>
          <p:cNvSpPr txBox="1"/>
          <p:nvPr/>
        </p:nvSpPr>
        <p:spPr>
          <a:xfrm>
            <a:off x="777240" y="3520440"/>
            <a:ext cx="10634472" cy="502920"/>
          </a:xfrm>
          <a:prstGeom prst="rect">
            <a:avLst/>
          </a:prstGeom>
          <a:noFill/>
          <a:ln/>
        </p:spPr>
        <p:txBody>
          <a:bodyPr wrap="square" lIns="0" tIns="0" rIns="0" bIns="0" rtlCol="0" anchor="t"/>
          <a:lstStyle/>
          <a:p>
            <a:pPr algn="ctr" indent="0" marL="0">
              <a:buNone/>
            </a:pPr>
            <a:r>
              <a:rPr lang="en-US" sz="2200" dirty="0">
                <a:solidFill>
                  <a:schemeClr val="bg1"/>
                </a:solidFill>
              </a:rPr>
              <a:t>Right-Fit Homes · Stop building what buyers tear out</a:t>
            </a:r>
            <a:endParaRPr lang="en-US" sz="2200" dirty="0"/>
          </a:p>
        </p:txBody>
      </p:sp>
      <p:sp>
        <p:nvSpPr>
          <p:cNvPr id="4" name="Video link"/>
          <p:cNvSpPr txBox="1"/>
          <p:nvPr/>
        </p:nvSpPr>
        <p:spPr>
          <a:xfrm>
            <a:off x="777240" y="4297680"/>
            <a:ext cx="10634472" cy="365760"/>
          </a:xfrm>
          <a:prstGeom prst="rect">
            <a:avLst/>
          </a:prstGeom>
          <a:noFill/>
          <a:ln/>
        </p:spPr>
        <p:txBody>
          <a:bodyPr wrap="square" lIns="0" tIns="0" rIns="0" bIns="0" rtlCol="0" anchor="t"/>
          <a:lstStyle/>
          <a:p>
            <a:pPr algn="ctr" indent="0" marL="0">
              <a:buNone/>
            </a:pPr>
            <a:r>
              <a:rPr lang="en-US" sz="1600" b="1" dirty="0">
                <a:solidFill>
                  <a:schemeClr val="bg1"/>
                </a:solidFill>
              </a:rPr>
              <a:t>Demo video: [link]</a:t>
            </a:r>
            <a:endParaRPr lang="en-US" sz="1600" dirty="0"/>
          </a:p>
        </p:txBody>
      </p:sp>
      <p:sp>
        <p:nvSpPr>
          <p:cNvPr id="5" name="Code link">
            <a:hlinkClick r:id="rId1" tooltip=""/>
          </p:cNvPr>
          <p:cNvSpPr txBox="1"/>
          <p:nvPr/>
        </p:nvSpPr>
        <p:spPr>
          <a:xfrm>
            <a:off x="777240" y="4709160"/>
            <a:ext cx="10634472" cy="365760"/>
          </a:xfrm>
          <a:prstGeom prst="rect">
            <a:avLst/>
          </a:prstGeom>
          <a:noFill/>
          <a:ln/>
        </p:spPr>
        <p:txBody>
          <a:bodyPr wrap="square" lIns="0" tIns="0" rIns="0" bIns="0" rtlCol="0" anchor="t"/>
          <a:lstStyle/>
          <a:p>
            <a:pPr algn="ctr" indent="0" marL="0">
              <a:buNone/>
            </a:pPr>
            <a:r>
              <a:rPr lang="en-US" sz="1600" b="1"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Code: github.com/Jayden-Jarred/Sime-Darby-Hackathon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Appendix A: what buyers can drop</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SDP still needs to confirm the list; the app keeps uncertain items out</a:t>
            </a:r>
            <a:endParaRPr lang="en-US" sz="1800" dirty="0"/>
          </a:p>
        </p:txBody>
      </p:sp>
      <p:graphicFrame>
        <p:nvGraphicFramePr>
          <p:cNvPr id="15" name="Eligibility table"/>
          <p:cNvGraphicFramePr>
            <a:graphicFrameLocks noGrp="1"/>
          </p:cNvGraphicFramePr>
          <p:nvPr>
            <p:extLst>
              <p:ext uri="{D42A27DB-BD31-4B8C-83A1-F6EECF244321}">
                <p14:modId xmlns:p14="http://schemas.microsoft.com/office/powerpoint/2010/main" val="1579011935"/>
              </p:ext>
            </p:extLst>
          </p:nvPr>
        </p:nvGraphicFramePr>
        <p:xfrm>
          <a:off x="777240" y="1965960"/>
          <a:ext cx="10634472" cy="914400"/>
        </p:xfrm>
        <a:graphic>
          <a:graphicData uri="http://schemas.openxmlformats.org/drawingml/2006/table">
            <a:tbl>
              <a:tblPr/>
              <a:tblGrid>
                <a:gridCol w="2103120"/>
                <a:gridCol w="5669280"/>
                <a:gridCol w="2862072"/>
              </a:tblGrid>
              <a:tr h="457200">
                <a:tc>
                  <a:txBody>
                    <a:bodyPr/>
                    <a:lstStyle/>
                    <a:p>
                      <a:pPr indent="0" marL="0">
                        <a:buNone/>
                      </a:pPr>
                      <a:r>
                        <a:rPr lang="en-US" sz="1400" b="1" dirty="0">
                          <a:solidFill>
                            <a:srgbClr val="FFFFFF"/>
                          </a:solidFill>
                          <a:latin typeface="Century Gothic" pitchFamily="34" charset="0"/>
                          <a:ea typeface="Century Gothic" pitchFamily="34" charset="-122"/>
                          <a:cs typeface="Century Gothic" pitchFamily="34" charset="-120"/>
                        </a:rPr>
                        <a:t>Group</a:t>
                      </a:r>
                      <a:endParaRPr lang="en-US" sz="14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B3A"/>
                    </a:solidFill>
                  </a:tcPr>
                </a:tc>
                <a:tc>
                  <a:txBody>
                    <a:bodyPr/>
                    <a:lstStyle/>
                    <a:p>
                      <a:pPr indent="0" marL="0">
                        <a:buNone/>
                      </a:pPr>
                      <a:r>
                        <a:rPr lang="en-US" sz="1400" b="1" dirty="0">
                          <a:solidFill>
                            <a:srgbClr val="FFFFFF"/>
                          </a:solidFill>
                          <a:latin typeface="Century Gothic" pitchFamily="34" charset="0"/>
                          <a:ea typeface="Century Gothic" pitchFamily="34" charset="-122"/>
                          <a:cs typeface="Century Gothic" pitchFamily="34" charset="-120"/>
                        </a:rPr>
                        <a:t>Examples</a:t>
                      </a:r>
                      <a:endParaRPr lang="en-US" sz="14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B3A"/>
                    </a:solidFill>
                  </a:tcPr>
                </a:tc>
                <a:tc>
                  <a:txBody>
                    <a:bodyPr/>
                    <a:lstStyle/>
                    <a:p>
                      <a:pPr indent="0" marL="0">
                        <a:buNone/>
                      </a:pPr>
                      <a:r>
                        <a:rPr lang="en-US" sz="1400" b="1" dirty="0">
                          <a:solidFill>
                            <a:srgbClr val="FFFFFF"/>
                          </a:solidFill>
                          <a:latin typeface="Century Gothic" pitchFamily="34" charset="0"/>
                          <a:ea typeface="Century Gothic" pitchFamily="34" charset="-122"/>
                          <a:cs typeface="Century Gothic" pitchFamily="34" charset="-120"/>
                        </a:rPr>
                        <a:t>Buyer can</a:t>
                      </a:r>
                      <a:endParaRPr lang="en-US" sz="14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B3A"/>
                    </a:solidFill>
                  </a:tcPr>
                </a:tc>
              </a:tr>
              <a:tr h="640080">
                <a:tc>
                  <a:txBody>
                    <a:bodyPr/>
                    <a:lstStyle/>
                    <a:p>
                      <a:pPr indent="0" marL="0">
                        <a:buNone/>
                      </a:pPr>
                      <a:r>
                        <a:rPr lang="en-US" sz="1300" b="1" dirty="0">
                          <a:solidFill>
                            <a:srgbClr val="1E1E1E"/>
                          </a:solidFill>
                          <a:latin typeface="Century Gothic" pitchFamily="34" charset="0"/>
                          <a:ea typeface="Century Gothic" pitchFamily="34" charset="-122"/>
                          <a:cs typeface="Century Gothic" pitchFamily="34" charset="-120"/>
                        </a:rPr>
                        <a:t>Can opt out</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E1E1E"/>
                          </a:solidFill>
                          <a:latin typeface="Century Gothic" pitchFamily="34" charset="0"/>
                          <a:ea typeface="Century Gothic" pitchFamily="34" charset="-122"/>
                          <a:cs typeface="Century Gothic" pitchFamily="34" charset="-120"/>
                        </a:rPr>
                        <a:t>Kitchen cabinets and tops, wardrobes, decorative lights</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E1E1E"/>
                          </a:solidFill>
                          <a:latin typeface="Century Gothic" pitchFamily="34" charset="0"/>
                          <a:ea typeface="Century Gothic" pitchFamily="34" charset="-122"/>
                          <a:cs typeface="Century Gothic" pitchFamily="34" charset="-120"/>
                        </a:rPr>
                        <a:t>Keep, opt out for a credit, or upgrade</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300" b="1" dirty="0">
                          <a:solidFill>
                            <a:srgbClr val="1E1E1E"/>
                          </a:solidFill>
                          <a:latin typeface="Century Gothic" pitchFamily="34" charset="0"/>
                          <a:ea typeface="Century Gothic" pitchFamily="34" charset="-122"/>
                          <a:cs typeface="Century Gothic" pitchFamily="34" charset="-120"/>
                        </a:rPr>
                        <a:t>Upgrade only</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E1E1E"/>
                          </a:solidFill>
                          <a:latin typeface="Century Gothic" pitchFamily="34" charset="0"/>
                          <a:ea typeface="Century Gothic" pitchFamily="34" charset="-122"/>
                          <a:cs typeface="Century Gothic" pitchFamily="34" charset="-120"/>
                        </a:rPr>
                        <a:t>Floor tiles</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E1E1E"/>
                          </a:solidFill>
                          <a:latin typeface="Century Gothic" pitchFamily="34" charset="0"/>
                          <a:ea typeface="Century Gothic" pitchFamily="34" charset="-122"/>
                          <a:cs typeface="Century Gothic" pitchFamily="34" charset="-120"/>
                        </a:rPr>
                        <a:t>Keep or upgrade</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300" b="1" dirty="0">
                          <a:solidFill>
                            <a:srgbClr val="1E1E1E"/>
                          </a:solidFill>
                          <a:latin typeface="Century Gothic" pitchFamily="34" charset="0"/>
                          <a:ea typeface="Century Gothic" pitchFamily="34" charset="-122"/>
                          <a:cs typeface="Century Gothic" pitchFamily="34" charset="-120"/>
                        </a:rPr>
                        <a:t>Always installed</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E1E1E"/>
                          </a:solidFill>
                          <a:latin typeface="Century Gothic" pitchFamily="34" charset="0"/>
                          <a:ea typeface="Century Gothic" pitchFamily="34" charset="-122"/>
                          <a:cs typeface="Century Gothic" pitchFamily="34" charset="-120"/>
                        </a:rPr>
                        <a:t>Toilets, basins, essential wiring and plumbing</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E1E1E"/>
                          </a:solidFill>
                          <a:latin typeface="Century Gothic" pitchFamily="34" charset="0"/>
                          <a:ea typeface="Century Gothic" pitchFamily="34" charset="-122"/>
                          <a:cs typeface="Century Gothic" pitchFamily="34" charset="-120"/>
                        </a:rPr>
                        <a:t>Nothing to choose</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1554480">
                <a:tc>
                  <a:txBody>
                    <a:bodyPr/>
                    <a:lstStyle/>
                    <a:p>
                      <a:pPr indent="0" marL="0">
                        <a:buNone/>
                      </a:pPr>
                      <a:r>
                        <a:rPr lang="en-US" sz="1300" b="1" dirty="0">
                          <a:solidFill>
                            <a:srgbClr val="D81921"/>
                          </a:solidFill>
                          <a:latin typeface="Century Gothic" pitchFamily="34" charset="0"/>
                          <a:ea typeface="Century Gothic" pitchFamily="34" charset="-122"/>
                          <a:cs typeface="Century Gothic" pitchFamily="34" charset="-120"/>
                        </a:rPr>
                        <a:t>To be confirmed</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E1E1E"/>
                          </a:solidFill>
                          <a:latin typeface="Century Gothic" pitchFamily="34" charset="0"/>
                          <a:ea typeface="Century Gothic" pitchFamily="34" charset="-122"/>
                          <a:cs typeface="Century Gothic" pitchFamily="34" charset="-120"/>
                        </a:rPr>
                        <a:t>Kitchen sink and tap (plumbing checked for the CCC); bathroom wall tiles (waterproof wet areas, in the sales contract); doors and window frames (on the approved plans); bedroom floor finishes (in the sales contract; may lower the bank's valuation)</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E1E1E"/>
                          </a:solidFill>
                          <a:latin typeface="Century Gothic" pitchFamily="34" charset="0"/>
                          <a:ea typeface="Century Gothic" pitchFamily="34" charset="-122"/>
                          <a:cs typeface="Century Gothic" pitchFamily="34" charset="-120"/>
                        </a:rPr>
                        <a:t>Nothing yet: the app shows "To be confirmed with SDP"</a:t>
                      </a:r>
                      <a:endParaRPr lang="en-US" sz="1300" dirty="0">
                        <a:latin typeface="Century Gothic" charset="0"/>
                        <a:ea typeface="Century Gothic" charset="0"/>
                        <a:cs typeface="Century Gothic" charset="0"/>
                      </a:endParaRPr>
                    </a:p>
                  </a:txBody>
                  <a:tcPr marL="137160" marR="137160"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Appendix B: the 100-home example</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100 double-storey terraces at the What-if page's Pilot preset, step by step</a:t>
            </a:r>
            <a:endParaRPr lang="en-US" sz="1800" dirty="0"/>
          </a:p>
        </p:txBody>
      </p:sp>
      <p:graphicFrame>
        <p:nvGraphicFramePr>
          <p:cNvPr id="16" name="Pilot numbers table"/>
          <p:cNvGraphicFramePr>
            <a:graphicFrameLocks noGrp="1"/>
          </p:cNvGraphicFramePr>
          <p:nvPr>
            <p:extLst>
              <p:ext uri="{D42A27DB-BD31-4B8C-83A1-F6EECF244321}">
                <p14:modId xmlns:p14="http://schemas.microsoft.com/office/powerpoint/2010/main" val="1579011935"/>
              </p:ext>
            </p:extLst>
          </p:nvPr>
        </p:nvGraphicFramePr>
        <p:xfrm>
          <a:off x="777240" y="1874520"/>
          <a:ext cx="10634472" cy="914400"/>
        </p:xfrm>
        <a:graphic>
          <a:graphicData uri="http://schemas.openxmlformats.org/drawingml/2006/table">
            <a:tbl>
              <a:tblPr/>
              <a:tblGrid>
                <a:gridCol w="2331720"/>
                <a:gridCol w="2148840"/>
                <a:gridCol w="6153912"/>
              </a:tblGrid>
              <a:tr h="384048">
                <a:tc>
                  <a:txBody>
                    <a:bodyPr/>
                    <a:lstStyle/>
                    <a:p>
                      <a:pPr indent="0" marL="0">
                        <a:buNone/>
                      </a:pPr>
                      <a:r>
                        <a:rPr lang="en-US" sz="1400" b="1" dirty="0">
                          <a:solidFill>
                            <a:srgbClr val="FFFFFF"/>
                          </a:solidFill>
                          <a:latin typeface="Century Gothic" pitchFamily="34" charset="0"/>
                          <a:ea typeface="Century Gothic" pitchFamily="34" charset="-122"/>
                          <a:cs typeface="Century Gothic" pitchFamily="34" charset="-120"/>
                        </a:rPr>
                        <a:t>Input or result</a:t>
                      </a:r>
                      <a:endParaRPr lang="en-US" sz="14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B3A"/>
                    </a:solidFill>
                  </a:tcPr>
                </a:tc>
                <a:tc>
                  <a:txBody>
                    <a:bodyPr/>
                    <a:lstStyle/>
                    <a:p>
                      <a:pPr indent="0" marL="0">
                        <a:buNone/>
                      </a:pPr>
                      <a:r>
                        <a:rPr lang="en-US" sz="1400" b="1" dirty="0">
                          <a:solidFill>
                            <a:srgbClr val="FFFFFF"/>
                          </a:solidFill>
                          <a:latin typeface="Century Gothic" pitchFamily="34" charset="0"/>
                          <a:ea typeface="Century Gothic" pitchFamily="34" charset="-122"/>
                          <a:cs typeface="Century Gothic" pitchFamily="34" charset="-120"/>
                        </a:rPr>
                        <a:t>Value</a:t>
                      </a:r>
                      <a:endParaRPr lang="en-US" sz="14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B3A"/>
                    </a:solidFill>
                  </a:tcPr>
                </a:tc>
                <a:tc>
                  <a:txBody>
                    <a:bodyPr/>
                    <a:lstStyle/>
                    <a:p>
                      <a:pPr indent="0" marL="0">
                        <a:buNone/>
                      </a:pPr>
                      <a:r>
                        <a:rPr lang="en-US" sz="1400" b="1" dirty="0">
                          <a:solidFill>
                            <a:srgbClr val="FFFFFF"/>
                          </a:solidFill>
                          <a:latin typeface="Century Gothic" pitchFamily="34" charset="0"/>
                          <a:ea typeface="Century Gothic" pitchFamily="34" charset="-122"/>
                          <a:cs typeface="Century Gothic" pitchFamily="34" charset="-120"/>
                        </a:rPr>
                        <a:t>How it is calculated</a:t>
                      </a:r>
                      <a:endParaRPr lang="en-US" sz="14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B3A"/>
                    </a:solidFill>
                  </a:tcPr>
                </a:tc>
              </a:tr>
              <a:tr h="411480">
                <a:tc>
                  <a:txBody>
                    <a:bodyPr/>
                    <a:lstStyle/>
                    <a:p>
                      <a:pPr indent="0" marL="0">
                        <a:buNone/>
                      </a:pPr>
                      <a:r>
                        <a:rPr lang="en-US" sz="1200" b="1" dirty="0">
                          <a:solidFill>
                            <a:srgbClr val="1E1E1E"/>
                          </a:solidFill>
                          <a:latin typeface="Century Gothic" pitchFamily="34" charset="0"/>
                          <a:ea typeface="Century Gothic" pitchFamily="34" charset="-122"/>
                          <a:cs typeface="Century Gothic" pitchFamily="34" charset="-120"/>
                        </a:rPr>
                        <a:t>Fittings owners would rip out</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252 (71.6 t)</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Each fitting's rip-out rate × 100 homes</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58368">
                <a:tc>
                  <a:txBody>
                    <a:bodyPr/>
                    <a:lstStyle/>
                    <a:p>
                      <a:pPr indent="0" marL="0">
                        <a:buNone/>
                      </a:pPr>
                      <a:r>
                        <a:rPr lang="en-US" sz="1200" b="1" dirty="0">
                          <a:solidFill>
                            <a:srgbClr val="1E1E1E"/>
                          </a:solidFill>
                          <a:latin typeface="Century Gothic" pitchFamily="34" charset="0"/>
                          <a:ea typeface="Century Gothic" pitchFamily="34" charset="-122"/>
                          <a:cs typeface="Century Gothic" pitchFamily="34" charset="-120"/>
                        </a:rPr>
                        <a:t>Chosen before handover</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194: 108 opted out, 86 upgraded</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Assumption: buyers choose for 80% of would-be rip-outs (basins and toilets are always installed); 40% upgrade, the rest opt out (tiles can only be upgraded)</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200" b="1" dirty="0">
                          <a:solidFill>
                            <a:srgbClr val="1E1E1E"/>
                          </a:solidFill>
                          <a:latin typeface="Century Gothic" pitchFamily="34" charset="0"/>
                          <a:ea typeface="Century Gothic" pitchFamily="34" charset="-122"/>
                          <a:cs typeface="Century Gothic" pitchFamily="34" charset="-120"/>
                        </a:rPr>
                        <a:t>Waste avoided</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60.3 t of 71.6 t (84%)</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56.2 t never installed + 4.0 t rehomed (target: Neighbour Match rehomes 50% of reusable fittings still removed; the demo data rehomes 3% so far)</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b="1" dirty="0">
                          <a:solidFill>
                            <a:srgbClr val="1E1E1E"/>
                          </a:solidFill>
                          <a:latin typeface="Century Gothic" pitchFamily="34" charset="0"/>
                          <a:ea typeface="Century Gothic" pitchFamily="34" charset="-122"/>
                          <a:cs typeface="Century Gothic" pitchFamily="34" charset="-120"/>
                        </a:rPr>
                        <a:t>Carbon never released</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46.6 t CO₂e</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Weight × ICE carbon factor; rehomed items minus their delivery trips</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200" b="1" dirty="0">
                          <a:solidFill>
                            <a:srgbClr val="1E1E1E"/>
                          </a:solidFill>
                          <a:latin typeface="Century Gothic" pitchFamily="34" charset="0"/>
                          <a:ea typeface="Century Gothic" pitchFamily="34" charset="-122"/>
                          <a:cs typeface="Century Gothic" pitchFamily="34" charset="-120"/>
                        </a:rPr>
                        <a:t>SDP's gain</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RM148,199</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RM132,144 installation saved after credits + RM96,055 upgrade margin − RM80,000 running cost (assumption)</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b="1" dirty="0">
                          <a:solidFill>
                            <a:srgbClr val="1E1E1E"/>
                          </a:solidFill>
                          <a:latin typeface="Century Gothic" pitchFamily="34" charset="0"/>
                          <a:ea typeface="Century Gothic" pitchFamily="34" charset="-122"/>
                          <a:cs typeface="Century Gothic" pitchFamily="34" charset="-120"/>
                        </a:rPr>
                        <a:t>Pays for itself after</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36 homes</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RM80,000 running cost ÷ RM2,282 gain per home</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b="1" dirty="0">
                          <a:solidFill>
                            <a:srgbClr val="1E1E1E"/>
                          </a:solidFill>
                          <a:latin typeface="Century Gothic" pitchFamily="34" charset="0"/>
                          <a:ea typeface="Century Gothic" pitchFamily="34" charset="-122"/>
                          <a:cs typeface="Century Gothic" pitchFamily="34" charset="-120"/>
                        </a:rPr>
                        <a:t>Buyers save</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RM411,590</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1E1E1E"/>
                          </a:solidFill>
                          <a:latin typeface="Century Gothic" pitchFamily="34" charset="0"/>
                          <a:ea typeface="Century Gothic" pitchFamily="34" charset="-122"/>
                          <a:cs typeface="Century Gothic" pitchFamily="34" charset="-120"/>
                        </a:rPr>
                        <a:t>Credits plus the rip-out costs they skip</a:t>
                      </a:r>
                      <a:endParaRPr lang="en-US" sz="1200" dirty="0">
                        <a:latin typeface="Century Gothic" charset="0"/>
                        <a:ea typeface="Century Gothic" charset="0"/>
                        <a:cs typeface="Century Gothic" charset="0"/>
                      </a:endParaRPr>
                    </a:p>
                  </a:txBody>
                  <a:tcPr marL="109728" marR="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Sources"/>
          <p:cNvSpPr txBox="1"/>
          <p:nvPr/>
        </p:nvSpPr>
        <p:spPr>
          <a:xfrm>
            <a:off x="777240" y="6144768"/>
            <a:ext cx="10634472" cy="256032"/>
          </a:xfrm>
          <a:prstGeom prst="rect">
            <a:avLst/>
          </a:prstGeom>
          <a:noFill/>
          <a:ln/>
        </p:spPr>
        <p:txBody>
          <a:bodyPr wrap="square" lIns="0" tIns="0" rIns="0" bIns="0" rtlCol="0" anchor="t"/>
          <a:lstStyle/>
          <a:p>
            <a:pPr indent="0" marL="0">
              <a:buNone/>
            </a:pPr>
            <a:r>
              <a:rPr lang="en-US" sz="1100" dirty="0">
                <a:solidFill>
                  <a:schemeClr val="tx2"/>
                </a:solidFill>
              </a:rPr>
              <a:t>Simulated rip-out rates; fitting weights, carbon factors and prices from public sources (ICE database, Malaysian renovation price guides).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77240" y="502920"/>
            <a:ext cx="9418320" cy="749808"/>
          </a:xfrm>
          <a:prstGeom prst="rect">
            <a:avLst/>
          </a:prstGeom>
          <a:noFill/>
          <a:ln/>
        </p:spPr>
        <p:txBody>
          <a:bodyPr wrap="square" lIns="0" tIns="0" rIns="0" bIns="0" rtlCol="0" anchor="b"/>
          <a:lstStyle/>
          <a:p>
            <a:pPr algn="l" indent="0" marL="0">
              <a:buNone/>
            </a:pPr>
            <a:r>
              <a:rPr lang="en-US" sz="3600" b="1" dirty="0">
                <a:solidFill>
                  <a:schemeClr val="tx1"/>
                </a:solidFill>
              </a:rPr>
              <a:t>Appendix C: system architecture</a:t>
            </a:r>
            <a:endParaRPr lang="en-US" sz="3600" dirty="0"/>
          </a:p>
        </p:txBody>
      </p:sp>
      <p:sp>
        <p:nvSpPr>
          <p:cNvPr id="3" name="Message"/>
          <p:cNvSpPr txBox="1"/>
          <p:nvPr/>
        </p:nvSpPr>
        <p:spPr>
          <a:xfrm>
            <a:off x="777240" y="1325880"/>
            <a:ext cx="9418320" cy="457200"/>
          </a:xfrm>
          <a:prstGeom prst="rect">
            <a:avLst/>
          </a:prstGeom>
          <a:noFill/>
          <a:ln/>
        </p:spPr>
        <p:txBody>
          <a:bodyPr wrap="square" lIns="0" tIns="0" rIns="0" bIns="0" rtlCol="0" anchor="ctr"/>
          <a:lstStyle/>
          <a:p>
            <a:pPr indent="0" marL="0">
              <a:buNone/>
            </a:pPr>
            <a:r>
              <a:rPr lang="en-US" sz="1800" dirty="0">
                <a:solidFill>
                  <a:schemeClr val="tx2"/>
                </a:solidFill>
              </a:rPr>
              <a:t>Four layers, each talking only to the one below</a:t>
            </a:r>
            <a:endParaRPr lang="en-US" sz="1800" dirty="0"/>
          </a:p>
        </p:txBody>
      </p:sp>
      <p:sp>
        <p:nvSpPr>
          <p:cNvPr id="4" name="Pages layer"/>
          <p:cNvSpPr/>
          <p:nvPr/>
        </p:nvSpPr>
        <p:spPr>
          <a:xfrm>
            <a:off x="777240" y="2103120"/>
            <a:ext cx="6949440" cy="822960"/>
          </a:xfrm>
          <a:prstGeom prst="roundRect">
            <a:avLst>
              <a:gd name="adj" fmla="val 13333"/>
            </a:avLst>
          </a:prstGeom>
          <a:solidFill>
            <a:schemeClr val="bg2"/>
          </a:solidFill>
          <a:ln w="12700">
            <a:solidFill>
              <a:schemeClr val="bg2"/>
            </a:solidFill>
            <a:prstDash val="solid"/>
          </a:ln>
        </p:spPr>
      </p:sp>
      <p:sp>
        <p:nvSpPr>
          <p:cNvPr id="5" name="Pages"/>
          <p:cNvSpPr txBox="1"/>
          <p:nvPr/>
        </p:nvSpPr>
        <p:spPr>
          <a:xfrm>
            <a:off x="1005840" y="2194560"/>
            <a:ext cx="6492240" cy="320040"/>
          </a:xfrm>
          <a:prstGeom prst="rect">
            <a:avLst/>
          </a:prstGeom>
          <a:noFill/>
          <a:ln/>
        </p:spPr>
        <p:txBody>
          <a:bodyPr wrap="square" lIns="0" tIns="0" rIns="0" bIns="0" rtlCol="0" anchor="t"/>
          <a:lstStyle/>
          <a:p>
            <a:pPr indent="0" marL="0">
              <a:buNone/>
            </a:pPr>
            <a:r>
              <a:rPr lang="en-US" sz="1500" b="1" dirty="0">
                <a:solidFill>
                  <a:schemeClr val="tx1"/>
                </a:solidFill>
              </a:rPr>
              <a:t>Pages</a:t>
            </a:r>
            <a:endParaRPr lang="en-US" sz="1500" dirty="0"/>
          </a:p>
        </p:txBody>
      </p:sp>
      <p:sp>
        <p:nvSpPr>
          <p:cNvPr id="6" name="Pages detail"/>
          <p:cNvSpPr txBox="1"/>
          <p:nvPr/>
        </p:nvSpPr>
        <p:spPr>
          <a:xfrm>
            <a:off x="1005840" y="2514600"/>
            <a:ext cx="6492240" cy="347472"/>
          </a:xfrm>
          <a:prstGeom prst="rect">
            <a:avLst/>
          </a:prstGeom>
          <a:noFill/>
          <a:ln/>
        </p:spPr>
        <p:txBody>
          <a:bodyPr wrap="square" lIns="0" tIns="0" rIns="0" bIns="0" rtlCol="0" anchor="t"/>
          <a:lstStyle/>
          <a:p>
            <a:pPr indent="0" marL="0">
              <a:buNone/>
            </a:pPr>
            <a:r>
              <a:rPr lang="en-US" sz="1200" dirty="0">
                <a:solidFill>
                  <a:schemeClr val="tx2"/>
                </a:solidFill>
              </a:rPr>
              <a:t>Every screen: HTML templates, three.js 3D home, Plotly charts. All bundled, runs offline</a:t>
            </a:r>
            <a:endParaRPr lang="en-US" sz="1200" dirty="0"/>
          </a:p>
        </p:txBody>
      </p:sp>
      <p:sp>
        <p:nvSpPr>
          <p:cNvPr id="7" name="Pages down"/>
          <p:cNvSpPr/>
          <p:nvPr/>
        </p:nvSpPr>
        <p:spPr>
          <a:xfrm>
            <a:off x="4251960" y="2944368"/>
            <a:ext cx="0" cy="192024"/>
          </a:xfrm>
          <a:prstGeom prst="line">
            <a:avLst/>
          </a:prstGeom>
          <a:noFill/>
          <a:ln w="25400">
            <a:solidFill>
              <a:srgbClr val="8C8C8C"/>
            </a:solidFill>
            <a:prstDash val="solid"/>
            <a:tailEnd type="triangle"/>
          </a:ln>
        </p:spPr>
      </p:sp>
      <p:sp>
        <p:nvSpPr>
          <p:cNvPr id="8" name="Pilot plug 1"/>
          <p:cNvSpPr/>
          <p:nvPr/>
        </p:nvSpPr>
        <p:spPr>
          <a:xfrm>
            <a:off x="8366760" y="2148840"/>
            <a:ext cx="3044952" cy="731520"/>
          </a:xfrm>
          <a:prstGeom prst="roundRect">
            <a:avLst>
              <a:gd name="adj" fmla="val 12500"/>
            </a:avLst>
          </a:prstGeom>
          <a:solidFill>
            <a:srgbClr val="FFFFFF"/>
          </a:solidFill>
          <a:ln w="15875">
            <a:solidFill>
              <a:srgbClr val="D81921"/>
            </a:solidFill>
            <a:prstDash val="dash"/>
          </a:ln>
        </p:spPr>
      </p:sp>
      <p:sp>
        <p:nvSpPr>
          <p:cNvPr id="9" name="Pilot plug text 1"/>
          <p:cNvSpPr txBox="1"/>
          <p:nvPr/>
        </p:nvSpPr>
        <p:spPr>
          <a:xfrm>
            <a:off x="8503920" y="2176272"/>
            <a:ext cx="2788920" cy="676656"/>
          </a:xfrm>
          <a:prstGeom prst="rect">
            <a:avLst/>
          </a:prstGeom>
          <a:noFill/>
          <a:ln/>
        </p:spPr>
        <p:txBody>
          <a:bodyPr wrap="square" lIns="0" tIns="0" rIns="0" bIns="0" rtlCol="0" anchor="ctr"/>
          <a:lstStyle/>
          <a:p>
            <a:pPr indent="0" marL="0">
              <a:buNone/>
            </a:pPr>
            <a:r>
              <a:rPr lang="en-US" sz="1150" dirty="0">
                <a:solidFill>
                  <a:schemeClr val="tx1"/>
                </a:solidFill>
              </a:rPr>
              <a:t>Hosting: a WSGI server behind HTTPS on SDP's network</a:t>
            </a:r>
            <a:endParaRPr lang="en-US" sz="1150" dirty="0"/>
          </a:p>
        </p:txBody>
      </p:sp>
      <p:sp>
        <p:nvSpPr>
          <p:cNvPr id="10" name="Plug line 1"/>
          <p:cNvSpPr/>
          <p:nvPr/>
        </p:nvSpPr>
        <p:spPr>
          <a:xfrm>
            <a:off x="7744968" y="2514600"/>
            <a:ext cx="603504" cy="0"/>
          </a:xfrm>
          <a:prstGeom prst="line">
            <a:avLst/>
          </a:prstGeom>
          <a:noFill/>
          <a:ln w="25400">
            <a:solidFill>
              <a:srgbClr val="D81921"/>
            </a:solidFill>
            <a:prstDash val="dash"/>
          </a:ln>
        </p:spPr>
      </p:sp>
      <p:sp>
        <p:nvSpPr>
          <p:cNvPr id="11" name="Web: Flask routes layer"/>
          <p:cNvSpPr/>
          <p:nvPr/>
        </p:nvSpPr>
        <p:spPr>
          <a:xfrm>
            <a:off x="777240" y="3154680"/>
            <a:ext cx="6949440" cy="822960"/>
          </a:xfrm>
          <a:prstGeom prst="roundRect">
            <a:avLst>
              <a:gd name="adj" fmla="val 13333"/>
            </a:avLst>
          </a:prstGeom>
          <a:solidFill>
            <a:schemeClr val="bg2"/>
          </a:solidFill>
          <a:ln w="12700">
            <a:solidFill>
              <a:schemeClr val="bg2"/>
            </a:solidFill>
            <a:prstDash val="solid"/>
          </a:ln>
        </p:spPr>
      </p:sp>
      <p:sp>
        <p:nvSpPr>
          <p:cNvPr id="12" name="Web: Flask routes"/>
          <p:cNvSpPr txBox="1"/>
          <p:nvPr/>
        </p:nvSpPr>
        <p:spPr>
          <a:xfrm>
            <a:off x="1005840" y="3246120"/>
            <a:ext cx="6492240" cy="320040"/>
          </a:xfrm>
          <a:prstGeom prst="rect">
            <a:avLst/>
          </a:prstGeom>
          <a:noFill/>
          <a:ln/>
        </p:spPr>
        <p:txBody>
          <a:bodyPr wrap="square" lIns="0" tIns="0" rIns="0" bIns="0" rtlCol="0" anchor="t"/>
          <a:lstStyle/>
          <a:p>
            <a:pPr indent="0" marL="0">
              <a:buNone/>
            </a:pPr>
            <a:r>
              <a:rPr lang="en-US" sz="1500" b="1" dirty="0">
                <a:solidFill>
                  <a:schemeClr val="tx1"/>
                </a:solidFill>
              </a:rPr>
              <a:t>Web: Flask routes</a:t>
            </a:r>
            <a:endParaRPr lang="en-US" sz="1500" dirty="0"/>
          </a:p>
        </p:txBody>
      </p:sp>
      <p:sp>
        <p:nvSpPr>
          <p:cNvPr id="13" name="Web: Flask routes detail"/>
          <p:cNvSpPr txBox="1"/>
          <p:nvPr/>
        </p:nvSpPr>
        <p:spPr>
          <a:xfrm>
            <a:off x="1005840" y="3566160"/>
            <a:ext cx="6492240" cy="347472"/>
          </a:xfrm>
          <a:prstGeom prst="rect">
            <a:avLst/>
          </a:prstGeom>
          <a:noFill/>
          <a:ln/>
        </p:spPr>
        <p:txBody>
          <a:bodyPr wrap="square" lIns="0" tIns="0" rIns="0" bIns="0" rtlCol="0" anchor="t"/>
          <a:lstStyle/>
          <a:p>
            <a:pPr indent="0" marL="0">
              <a:buNone/>
            </a:pPr>
            <a:r>
              <a:rPr lang="en-US" sz="1200" dirty="0">
                <a:solidFill>
                  <a:schemeClr val="tx2"/>
                </a:solidFill>
              </a:rPr>
              <a:t>Every page and JSON API, the demo sign-in, request checks</a:t>
            </a:r>
            <a:endParaRPr lang="en-US" sz="1200" dirty="0"/>
          </a:p>
        </p:txBody>
      </p:sp>
      <p:sp>
        <p:nvSpPr>
          <p:cNvPr id="14" name="Web: Flask routes down"/>
          <p:cNvSpPr/>
          <p:nvPr/>
        </p:nvSpPr>
        <p:spPr>
          <a:xfrm>
            <a:off x="4251960" y="3995928"/>
            <a:ext cx="0" cy="192024"/>
          </a:xfrm>
          <a:prstGeom prst="line">
            <a:avLst/>
          </a:prstGeom>
          <a:noFill/>
          <a:ln w="25400">
            <a:solidFill>
              <a:srgbClr val="8C8C8C"/>
            </a:solidFill>
            <a:prstDash val="solid"/>
            <a:tailEnd type="triangle"/>
          </a:ln>
        </p:spPr>
      </p:sp>
      <p:sp>
        <p:nvSpPr>
          <p:cNvPr id="15" name="Pilot plug 2"/>
          <p:cNvSpPr/>
          <p:nvPr/>
        </p:nvSpPr>
        <p:spPr>
          <a:xfrm>
            <a:off x="8366760" y="3200400"/>
            <a:ext cx="3044952" cy="731520"/>
          </a:xfrm>
          <a:prstGeom prst="roundRect">
            <a:avLst>
              <a:gd name="adj" fmla="val 12500"/>
            </a:avLst>
          </a:prstGeom>
          <a:solidFill>
            <a:srgbClr val="FFFFFF"/>
          </a:solidFill>
          <a:ln w="15875">
            <a:solidFill>
              <a:srgbClr val="D81921"/>
            </a:solidFill>
            <a:prstDash val="dash"/>
          </a:ln>
        </p:spPr>
      </p:sp>
      <p:sp>
        <p:nvSpPr>
          <p:cNvPr id="16" name="Pilot plug text 2"/>
          <p:cNvSpPr txBox="1"/>
          <p:nvPr/>
        </p:nvSpPr>
        <p:spPr>
          <a:xfrm>
            <a:off x="8503920" y="3227832"/>
            <a:ext cx="2788920" cy="676656"/>
          </a:xfrm>
          <a:prstGeom prst="rect">
            <a:avLst/>
          </a:prstGeom>
          <a:noFill/>
          <a:ln/>
        </p:spPr>
        <p:txBody>
          <a:bodyPr wrap="square" lIns="0" tIns="0" rIns="0" bIns="0" rtlCol="0" anchor="ctr"/>
          <a:lstStyle/>
          <a:p>
            <a:pPr indent="0" marL="0">
              <a:buNone/>
            </a:pPr>
            <a:r>
              <a:rPr lang="en-US" sz="1150" dirty="0">
                <a:solidFill>
                  <a:schemeClr val="tx1"/>
                </a:solidFill>
              </a:rPr>
              <a:t>SDP's own login replaces the demo sign-in</a:t>
            </a:r>
            <a:endParaRPr lang="en-US" sz="1150" dirty="0"/>
          </a:p>
        </p:txBody>
      </p:sp>
      <p:sp>
        <p:nvSpPr>
          <p:cNvPr id="17" name="Plug line 2"/>
          <p:cNvSpPr/>
          <p:nvPr/>
        </p:nvSpPr>
        <p:spPr>
          <a:xfrm>
            <a:off x="7744968" y="3566160"/>
            <a:ext cx="603504" cy="0"/>
          </a:xfrm>
          <a:prstGeom prst="line">
            <a:avLst/>
          </a:prstGeom>
          <a:noFill/>
          <a:ln w="25400">
            <a:solidFill>
              <a:srgbClr val="D81921"/>
            </a:solidFill>
            <a:prstDash val="dash"/>
          </a:ln>
        </p:spPr>
      </p:sp>
      <p:sp>
        <p:nvSpPr>
          <p:cNvPr id="18" name="Rules and maths layer"/>
          <p:cNvSpPr/>
          <p:nvPr/>
        </p:nvSpPr>
        <p:spPr>
          <a:xfrm>
            <a:off x="777240" y="4206240"/>
            <a:ext cx="6949440" cy="822960"/>
          </a:xfrm>
          <a:prstGeom prst="roundRect">
            <a:avLst>
              <a:gd name="adj" fmla="val 13333"/>
            </a:avLst>
          </a:prstGeom>
          <a:solidFill>
            <a:schemeClr val="bg2"/>
          </a:solidFill>
          <a:ln w="12700">
            <a:solidFill>
              <a:schemeClr val="bg2"/>
            </a:solidFill>
            <a:prstDash val="solid"/>
          </a:ln>
        </p:spPr>
      </p:sp>
      <p:sp>
        <p:nvSpPr>
          <p:cNvPr id="19" name="Rules and maths"/>
          <p:cNvSpPr txBox="1"/>
          <p:nvPr/>
        </p:nvSpPr>
        <p:spPr>
          <a:xfrm>
            <a:off x="1005840" y="4297680"/>
            <a:ext cx="6492240" cy="320040"/>
          </a:xfrm>
          <a:prstGeom prst="rect">
            <a:avLst/>
          </a:prstGeom>
          <a:noFill/>
          <a:ln/>
        </p:spPr>
        <p:txBody>
          <a:bodyPr wrap="square" lIns="0" tIns="0" rIns="0" bIns="0" rtlCol="0" anchor="t"/>
          <a:lstStyle/>
          <a:p>
            <a:pPr indent="0" marL="0">
              <a:buNone/>
            </a:pPr>
            <a:r>
              <a:rPr lang="en-US" sz="1500" b="1" dirty="0">
                <a:solidFill>
                  <a:schemeClr val="tx1"/>
                </a:solidFill>
              </a:rPr>
              <a:t>Rules and maths</a:t>
            </a:r>
            <a:endParaRPr lang="en-US" sz="1500" dirty="0"/>
          </a:p>
        </p:txBody>
      </p:sp>
      <p:sp>
        <p:nvSpPr>
          <p:cNvPr id="20" name="Rules and maths detail"/>
          <p:cNvSpPr txBox="1"/>
          <p:nvPr/>
        </p:nvSpPr>
        <p:spPr>
          <a:xfrm>
            <a:off x="1005840" y="4617720"/>
            <a:ext cx="6492240" cy="347472"/>
          </a:xfrm>
          <a:prstGeom prst="rect">
            <a:avLst/>
          </a:prstGeom>
          <a:noFill/>
          <a:ln/>
        </p:spPr>
        <p:txBody>
          <a:bodyPr wrap="square" lIns="0" tIns="0" rIns="0" bIns="0" rtlCol="0" anchor="t"/>
          <a:lstStyle/>
          <a:p>
            <a:pPr indent="0" marL="0">
              <a:buNone/>
            </a:pPr>
            <a:r>
              <a:rPr lang="en-US" sz="1200" dirty="0">
                <a:solidFill>
                  <a:schemeClr val="tx2"/>
                </a:solidFill>
              </a:rPr>
              <a:t>Impact and carbon maths, AI tagging, Neighbour Match, the township map</a:t>
            </a:r>
            <a:endParaRPr lang="en-US" sz="1200" dirty="0"/>
          </a:p>
        </p:txBody>
      </p:sp>
      <p:sp>
        <p:nvSpPr>
          <p:cNvPr id="21" name="Rules and maths down"/>
          <p:cNvSpPr/>
          <p:nvPr/>
        </p:nvSpPr>
        <p:spPr>
          <a:xfrm>
            <a:off x="4251960" y="5047488"/>
            <a:ext cx="0" cy="192024"/>
          </a:xfrm>
          <a:prstGeom prst="line">
            <a:avLst/>
          </a:prstGeom>
          <a:noFill/>
          <a:ln w="25400">
            <a:solidFill>
              <a:srgbClr val="8C8C8C"/>
            </a:solidFill>
            <a:prstDash val="solid"/>
            <a:tailEnd type="triangle"/>
          </a:ln>
        </p:spPr>
      </p:sp>
      <p:sp>
        <p:nvSpPr>
          <p:cNvPr id="22" name="Pilot plug 3"/>
          <p:cNvSpPr/>
          <p:nvPr/>
        </p:nvSpPr>
        <p:spPr>
          <a:xfrm>
            <a:off x="8366760" y="4251960"/>
            <a:ext cx="3044952" cy="731520"/>
          </a:xfrm>
          <a:prstGeom prst="roundRect">
            <a:avLst>
              <a:gd name="adj" fmla="val 12500"/>
            </a:avLst>
          </a:prstGeom>
          <a:solidFill>
            <a:srgbClr val="FFFFFF"/>
          </a:solidFill>
          <a:ln w="15875">
            <a:solidFill>
              <a:srgbClr val="D81921"/>
            </a:solidFill>
            <a:prstDash val="dash"/>
          </a:ln>
        </p:spPr>
      </p:sp>
      <p:sp>
        <p:nvSpPr>
          <p:cNvPr id="23" name="Pilot plug text 3"/>
          <p:cNvSpPr txBox="1"/>
          <p:nvPr/>
        </p:nvSpPr>
        <p:spPr>
          <a:xfrm>
            <a:off x="8503920" y="4279392"/>
            <a:ext cx="2788920" cy="676656"/>
          </a:xfrm>
          <a:prstGeom prst="rect">
            <a:avLst/>
          </a:prstGeom>
          <a:noFill/>
          <a:ln/>
        </p:spPr>
        <p:txBody>
          <a:bodyPr wrap="square" lIns="0" tIns="0" rIns="0" bIns="0" rtlCol="0" anchor="ctr"/>
          <a:lstStyle/>
          <a:p>
            <a:pPr indent="0" marL="0">
              <a:buNone/>
            </a:pPr>
            <a:r>
              <a:rPr lang="en-US" sz="1150" dirty="0">
                <a:solidFill>
                  <a:schemeClr val="tx1"/>
                </a:solidFill>
              </a:rPr>
              <a:t>Claude API behind the tagger (optional; keyword rules as backup)</a:t>
            </a:r>
            <a:endParaRPr lang="en-US" sz="1150" dirty="0"/>
          </a:p>
        </p:txBody>
      </p:sp>
      <p:sp>
        <p:nvSpPr>
          <p:cNvPr id="24" name="Plug line 3"/>
          <p:cNvSpPr/>
          <p:nvPr/>
        </p:nvSpPr>
        <p:spPr>
          <a:xfrm>
            <a:off x="7744968" y="4617720"/>
            <a:ext cx="603504" cy="0"/>
          </a:xfrm>
          <a:prstGeom prst="line">
            <a:avLst/>
          </a:prstGeom>
          <a:noFill/>
          <a:ln w="25400">
            <a:solidFill>
              <a:srgbClr val="D81921"/>
            </a:solidFill>
            <a:prstDash val="dash"/>
          </a:ln>
        </p:spPr>
      </p:sp>
      <p:sp>
        <p:nvSpPr>
          <p:cNvPr id="25" name="Data: SQLite layer"/>
          <p:cNvSpPr/>
          <p:nvPr/>
        </p:nvSpPr>
        <p:spPr>
          <a:xfrm>
            <a:off x="777240" y="5257800"/>
            <a:ext cx="6949440" cy="822960"/>
          </a:xfrm>
          <a:prstGeom prst="roundRect">
            <a:avLst>
              <a:gd name="adj" fmla="val 13333"/>
            </a:avLst>
          </a:prstGeom>
          <a:solidFill>
            <a:schemeClr val="accent4"/>
          </a:solidFill>
          <a:ln w="12700">
            <a:solidFill>
              <a:schemeClr val="accent4"/>
            </a:solidFill>
            <a:prstDash val="solid"/>
          </a:ln>
        </p:spPr>
      </p:sp>
      <p:sp>
        <p:nvSpPr>
          <p:cNvPr id="26" name="Data: SQLite"/>
          <p:cNvSpPr txBox="1"/>
          <p:nvPr/>
        </p:nvSpPr>
        <p:spPr>
          <a:xfrm>
            <a:off x="1005840" y="5349240"/>
            <a:ext cx="6492240" cy="320040"/>
          </a:xfrm>
          <a:prstGeom prst="rect">
            <a:avLst/>
          </a:prstGeom>
          <a:noFill/>
          <a:ln/>
        </p:spPr>
        <p:txBody>
          <a:bodyPr wrap="square" lIns="0" tIns="0" rIns="0" bIns="0" rtlCol="0" anchor="t"/>
          <a:lstStyle/>
          <a:p>
            <a:pPr indent="0" marL="0">
              <a:buNone/>
            </a:pPr>
            <a:r>
              <a:rPr lang="en-US" sz="1500" b="1" dirty="0">
                <a:solidFill>
                  <a:schemeClr val="bg1"/>
                </a:solidFill>
              </a:rPr>
              <a:t>Data: SQLite</a:t>
            </a:r>
            <a:endParaRPr lang="en-US" sz="1500" dirty="0"/>
          </a:p>
        </p:txBody>
      </p:sp>
      <p:sp>
        <p:nvSpPr>
          <p:cNvPr id="27" name="Data: SQLite detail"/>
          <p:cNvSpPr txBox="1"/>
          <p:nvPr/>
        </p:nvSpPr>
        <p:spPr>
          <a:xfrm>
            <a:off x="1005840" y="5669280"/>
            <a:ext cx="6492240" cy="347472"/>
          </a:xfrm>
          <a:prstGeom prst="rect">
            <a:avLst/>
          </a:prstGeom>
          <a:noFill/>
          <a:ln/>
        </p:spPr>
        <p:txBody>
          <a:bodyPr wrap="square" lIns="0" tIns="0" rIns="0" bIns="0" rtlCol="0" anchor="t"/>
          <a:lstStyle/>
          <a:p>
            <a:pPr indent="0" marL="0">
              <a:buNone/>
            </a:pPr>
            <a:r>
              <a:rPr lang="en-US" sz="1200" dirty="0">
                <a:solidFill>
                  <a:schemeClr val="bg1"/>
                </a:solidFill>
              </a:rPr>
              <a:t>9 tables with keys and checks; every save is all or nothing</a:t>
            </a:r>
            <a:endParaRPr lang="en-US" sz="1200" dirty="0"/>
          </a:p>
        </p:txBody>
      </p:sp>
      <p:sp>
        <p:nvSpPr>
          <p:cNvPr id="28" name="Pilot plug 4"/>
          <p:cNvSpPr/>
          <p:nvPr/>
        </p:nvSpPr>
        <p:spPr>
          <a:xfrm>
            <a:off x="8366760" y="5303520"/>
            <a:ext cx="3044952" cy="731520"/>
          </a:xfrm>
          <a:prstGeom prst="roundRect">
            <a:avLst>
              <a:gd name="adj" fmla="val 12500"/>
            </a:avLst>
          </a:prstGeom>
          <a:solidFill>
            <a:srgbClr val="FFFFFF"/>
          </a:solidFill>
          <a:ln w="15875">
            <a:solidFill>
              <a:srgbClr val="D81921"/>
            </a:solidFill>
            <a:prstDash val="dash"/>
          </a:ln>
        </p:spPr>
      </p:sp>
      <p:sp>
        <p:nvSpPr>
          <p:cNvPr id="29" name="Pilot plug text 4"/>
          <p:cNvSpPr txBox="1"/>
          <p:nvPr/>
        </p:nvSpPr>
        <p:spPr>
          <a:xfrm>
            <a:off x="8503920" y="5330952"/>
            <a:ext cx="2788920" cy="676656"/>
          </a:xfrm>
          <a:prstGeom prst="rect">
            <a:avLst/>
          </a:prstGeom>
          <a:noFill/>
          <a:ln/>
        </p:spPr>
        <p:txBody>
          <a:bodyPr wrap="square" lIns="0" tIns="0" rIns="0" bIns="0" rtlCol="0" anchor="ctr"/>
          <a:lstStyle/>
          <a:p>
            <a:pPr indent="0" marL="0">
              <a:buNone/>
            </a:pPr>
            <a:r>
              <a:rPr lang="en-US" sz="1150" dirty="0">
                <a:solidFill>
                  <a:schemeClr val="tx1"/>
                </a:solidFill>
              </a:rPr>
              <a:t>SDP's sales and renovation systems feed it; a server database can replace SQLite</a:t>
            </a:r>
            <a:endParaRPr lang="en-US" sz="1150" dirty="0"/>
          </a:p>
        </p:txBody>
      </p:sp>
      <p:sp>
        <p:nvSpPr>
          <p:cNvPr id="30" name="Plug line 4"/>
          <p:cNvSpPr/>
          <p:nvPr/>
        </p:nvSpPr>
        <p:spPr>
          <a:xfrm>
            <a:off x="7744968" y="5669280"/>
            <a:ext cx="603504" cy="0"/>
          </a:xfrm>
          <a:prstGeom prst="line">
            <a:avLst/>
          </a:prstGeom>
          <a:noFill/>
          <a:ln w="25400">
            <a:solidFill>
              <a:srgbClr val="D81921"/>
            </a:solidFill>
            <a:prstDash val="dash"/>
          </a:ln>
        </p:spPr>
      </p:sp>
      <p:sp>
        <p:nvSpPr>
          <p:cNvPr id="31" name="Text 29"/>
          <p:cNvSpPr txBox="1"/>
          <p:nvPr/>
        </p:nvSpPr>
        <p:spPr>
          <a:xfrm>
            <a:off x="8366760" y="1828800"/>
            <a:ext cx="3044952"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FOR A REAL PILOT</a:t>
            </a:r>
            <a:endParaRPr lang="en-US" sz="1100" dirty="0"/>
          </a:p>
        </p:txBody>
      </p:sp>
      <p:sp>
        <p:nvSpPr>
          <p:cNvPr id="32" name="Architecture link"/>
          <p:cNvSpPr txBox="1"/>
          <p:nvPr/>
        </p:nvSpPr>
        <p:spPr>
          <a:xfrm>
            <a:off x="777240" y="6263640"/>
            <a:ext cx="10634472" cy="274320"/>
          </a:xfrm>
          <a:prstGeom prst="rect">
            <a:avLst/>
          </a:prstGeom>
          <a:noFill/>
          <a:ln/>
        </p:spPr>
        <p:txBody>
          <a:bodyPr wrap="square" lIns="0" tIns="0" rIns="0" bIns="0" rtlCol="0" anchor="t"/>
          <a:lstStyle/>
          <a:p>
            <a:pPr indent="0" marL="0">
              <a:buNone/>
            </a:pPr>
            <a:r>
              <a:rPr lang="en-US" sz="1100" dirty="0">
                <a:solidFill>
                  <a:schemeClr val="tx2"/>
                </a:solidFill>
              </a:rPr>
              <a:t>Full diagrams: docs/ARCHITECTURE.md in the code repository.</a:t>
            </a:r>
            <a:endParaRPr lang="en-US" sz="1100" dirty="0"/>
          </a:p>
        </p:txBody>
      </p:sp>
    </p:spTree>
  </p:cSld>
  <p:clrMapOvr>
    <a:masterClrMapping/>
  </p:clrMapOvr>
</p:sld>
</file>

<file path=ppt/theme/theme1.xml><?xml version="1.0" encoding="utf-8"?>
<a:theme xmlns:a="http://schemas.openxmlformats.org/drawingml/2006/main" name="SDP Township of Tomorrow">
  <a:themeElements>
    <a:clrScheme name="SDP Township of Tomorrow">
      <a:dk1>
        <a:srgbClr val="1E1E1E"/>
      </a:dk1>
      <a:lt1>
        <a:srgbClr val="FFFFFF"/>
      </a:lt1>
      <a:dk2>
        <a:srgbClr val="595959"/>
      </a:dk2>
      <a:lt2>
        <a:srgbClr val="F3F3F3"/>
      </a:lt2>
      <a:accent1>
        <a:srgbClr val="D81921"/>
      </a:accent1>
      <a:accent2>
        <a:srgbClr val="F05922"/>
      </a:accent2>
      <a:accent3>
        <a:srgbClr val="F7901A"/>
      </a:accent3>
      <a:accent4>
        <a:srgbClr val="1E2B3A"/>
      </a:accent4>
      <a:accent5>
        <a:srgbClr val="8C8C8C"/>
      </a:accent5>
      <a:accent6>
        <a:srgbClr val="FCE9E6"/>
      </a:accent6>
      <a:hlink>
        <a:srgbClr val="D81921"/>
      </a:hlink>
      <a:folHlink>
        <a:srgbClr val="A3121A"/>
      </a:folHlink>
    </a:clrScheme>
    <a:fontScheme name="SDP Township of Tomorrow">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Right-Fit Homes: SDP University Hackathon 2026</dc:title>
  <dc:subject>PptxGenJS Presentation</dc:subject>
  <dc:creator>Right-Fit Homes team</dc:creator>
  <cp:lastModifiedBy>Right-Fit Homes team</cp:lastModifiedBy>
  <cp:revision>1</cp:revision>
  <dcterms:created xsi:type="dcterms:W3CDTF">2026-10-22T15:22:27Z</dcterms:created>
  <dcterms:modified xsi:type="dcterms:W3CDTF">2026-10-22T15:22:27Z</dcterms:modified>
</cp:coreProperties>
</file>